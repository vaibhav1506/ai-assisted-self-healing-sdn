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7.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style2.xml" ContentType="application/vnd.ms-office.chartstyle+xml"/>
  <Override PartName="/ppt/charts/chart2.xml" ContentType="application/vnd.openxmlformats-officedocument.drawingml.chart+xml"/>
  <Override PartName="/ppt/charts/colors2.xml" ContentType="application/vnd.ms-office.chartcolorstyle+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_rels/chart2.xml.rels><?xml version="1.0" encoding="UTF-8"?>
<Relationships xmlns="http://schemas.openxmlformats.org/package/2006/relationships"><Relationship Id="rId1" Type="http://schemas.microsoft.com/office/2011/relationships/chartStyle" Target="style2.xml"/><Relationship Id="rId2" Type="http://schemas.microsoft.com/office/2011/relationships/chartColorStyle" Target="colors2.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875" b="1" u="none" strike="noStrike">
                <a:solidFill>
                  <a:srgbClr val="132238"/>
                </a:solidFill>
                <a:uFillTx/>
                <a:latin typeface="DejaVu Sans"/>
                <a:ea typeface="DejaVu Sans"/>
              </a:rPr>
              <a:t>Time from the fault to verified application recovery</a:t>
            </a:r>
          </a:p>
        </c:rich>
      </c:tx>
      <c:overlay val="0"/>
      <c:spPr>
        <a:noFill/>
        <a:ln w="0">
          <a:noFill/>
        </a:ln>
      </c:spPr>
    </c:title>
    <c:autoTitleDeleted val="0"/>
    <c:plotArea>
      <c:barChart>
        <c:barDir val="col"/>
        <c:grouping val="clustered"/>
        <c:varyColors val="0"/>
        <c:ser>
          <c:idx val="0"/>
          <c:order val="0"/>
          <c:tx>
            <c:strRef>
              <c:f>label 0</c:f>
              <c:strCache>
                <c:ptCount val="1"/>
                <c:pt idx="0">
                  <c:v>Seconds</c:v>
                </c:pt>
              </c:strCache>
            </c:strRef>
          </c:tx>
          <c:spPr>
            <a:solidFill>
              <a:srgbClr val="1D4ED8"/>
            </a:solidFill>
            <a:ln w="0">
              <a:noFill/>
            </a:ln>
          </c:spPr>
          <c:invertIfNegative val="0"/>
          <c:dLbls>
            <c:numFmt formatCode="0.00" sourceLinked="0"/>
            <c:txPr>
              <a:bodyPr wrap="square"/>
              <a:lstStyle/>
              <a:p>
                <a:pPr>
                  <a:defRPr sz="1875" b="1" u="none" strike="noStrike">
                    <a:solidFill>
                      <a:srgbClr val="132238"/>
                    </a:solidFill>
                    <a:uFillTx/>
                    <a:latin typeface="DejaVu Sans"/>
                    <a:ea typeface="DejaVu Sans"/>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Link failure</c:v>
                </c:pt>
                <c:pt idx="1">
                  <c:v>Packet loss</c:v>
                </c:pt>
                <c:pt idx="2">
                  <c:v>Congestion</c:v>
                </c:pt>
                <c:pt idx="3">
                  <c:v>Delay</c:v>
                </c:pt>
              </c:strCache>
            </c:strRef>
          </c:cat>
          <c:val>
            <c:numRef>
              <c:f>0</c:f>
              <c:numCache>
                <c:formatCode>0.00</c:formatCode>
                <c:ptCount val="4"/>
                <c:pt idx="0">
                  <c:v>8.022219</c:v>
                </c:pt>
                <c:pt idx="1">
                  <c:v>3.299976</c:v>
                </c:pt>
                <c:pt idx="2">
                  <c:v>4.975605</c:v>
                </c:pt>
                <c:pt idx="3">
                  <c:v>3.325069</c:v>
                </c:pt>
              </c:numCache>
            </c:numRef>
          </c:val>
        </c:ser>
        <c:gapWidth val="125"/>
        <c:overlap val="0"/>
        <c:axId val="85520371"/>
        <c:axId val="84715832"/>
      </c:barChart>
      <c:catAx>
        <c:axId val="85520371"/>
        <c:scaling>
          <c:orientation val="minMax"/>
        </c:scaling>
        <c:delete val="0"/>
        <c:axPos val="b"/>
        <c:numFmt formatCode="General" sourceLinked="0"/>
        <c:majorTickMark val="none"/>
        <c:minorTickMark val="none"/>
        <c:tickLblPos val="nextTo"/>
        <c:spPr>
          <a:ln w="9360">
            <a:solidFill>
              <a:srgbClr val="CBD5E1"/>
            </a:solidFill>
            <a:round/>
          </a:ln>
        </c:spPr>
        <c:txPr>
          <a:bodyPr/>
          <a:lstStyle/>
          <a:p>
            <a:pPr>
              <a:defRPr sz="1725" b="0" u="none" strike="noStrike">
                <a:solidFill>
                  <a:srgbClr val="132238"/>
                </a:solidFill>
                <a:uFillTx/>
                <a:latin typeface="DejaVu Sans"/>
                <a:ea typeface="DejaVu Sans"/>
              </a:defRPr>
            </a:pPr>
          </a:p>
        </c:txPr>
        <c:crossAx val="84715832"/>
        <c:crosses val="autoZero"/>
        <c:auto val="1"/>
        <c:lblAlgn val="ctr"/>
        <c:lblOffset val="100"/>
        <c:noMultiLvlLbl val="0"/>
      </c:catAx>
      <c:valAx>
        <c:axId val="84715832"/>
        <c:scaling>
          <c:orientation val="minMax"/>
          <c:max val="10"/>
          <c:min val="0"/>
        </c:scaling>
        <c:delete val="0"/>
        <c:axPos val="l"/>
        <c:majorGridlines>
          <c:spPr>
            <a:ln w="9360">
              <a:solidFill>
                <a:srgbClr val="E2E8F0"/>
              </a:solidFill>
              <a:round/>
            </a:ln>
          </c:spPr>
        </c:majorGridlines>
        <c:title>
          <c:tx>
            <c:rich>
              <a:bodyPr rot="-5400000"/>
              <a:lstStyle/>
              <a:p>
                <a:pPr>
                  <a:defRPr sz="1300" b="0" u="none" strike="noStrike">
                    <a:solidFill>
                      <a:srgbClr val="000000"/>
                    </a:solidFill>
                    <a:uFillTx/>
                    <a:latin typeface="Arial"/>
                  </a:defRPr>
                </a:pPr>
                <a:r>
                  <a:rPr sz="1000" b="1" u="none" strike="noStrike">
                    <a:solidFill>
                      <a:srgbClr val="000000"/>
                    </a:solidFill>
                    <a:uFillTx/>
                    <a:latin typeface="DejaVu Sans"/>
                    <a:ea typeface="DejaVu Sans"/>
                  </a:rPr>
                  <a:t>Seconds</a:t>
                </a:r>
              </a:p>
            </c:rich>
          </c:tx>
          <c:overlay val="0"/>
          <c:spPr>
            <a:noFill/>
            <a:ln w="0">
              <a:noFill/>
            </a:ln>
          </c:spPr>
        </c:title>
        <c:numFmt formatCode="0.00" sourceLinked="0"/>
        <c:majorTickMark val="none"/>
        <c:minorTickMark val="none"/>
        <c:tickLblPos val="nextTo"/>
        <c:spPr>
          <a:ln w="9360">
            <a:solidFill>
              <a:srgbClr val="D4D4D4"/>
            </a:solidFill>
            <a:round/>
          </a:ln>
        </c:spPr>
        <c:txPr>
          <a:bodyPr/>
          <a:lstStyle/>
          <a:p>
            <a:pPr>
              <a:defRPr sz="1575" b="0" u="none" strike="noStrike">
                <a:solidFill>
                  <a:srgbClr val="132238"/>
                </a:solidFill>
                <a:uFillTx/>
                <a:latin typeface="DejaVu Sans"/>
                <a:ea typeface="DejaVu Sans"/>
              </a:defRPr>
            </a:pPr>
          </a:p>
        </c:txPr>
        <c:crossAx val="85520371"/>
        <c:crosses val="autoZero"/>
        <c:crossBetween val="between"/>
      </c:valAx>
      <c:spPr>
        <a:solidFill>
          <a:srgbClr val="FFFFFF"/>
        </a:solidFill>
        <a:ln w="0">
          <a:noFill/>
        </a:ln>
      </c:spPr>
    </c:plotArea>
    <c:plotVisOnly val="1"/>
    <c:dispBlanksAs val="zero"/>
  </c:chart>
  <c:spPr>
    <a:solidFill>
      <a:srgbClr val="FFFFFF"/>
    </a:solid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875" b="1" u="none" strike="noStrike">
                <a:solidFill>
                  <a:srgbClr val="132238"/>
                </a:solidFill>
                <a:uFillTx/>
                <a:latin typeface="DejaVu Sans"/>
                <a:ea typeface="DejaVu Sans"/>
              </a:rPr>
              <a:t>Packet loss during the complete 36-second run</a:t>
            </a:r>
          </a:p>
        </c:rich>
      </c:tx>
      <c:overlay val="0"/>
      <c:spPr>
        <a:noFill/>
        <a:ln w="0">
          <a:noFill/>
        </a:ln>
      </c:spPr>
    </c:title>
    <c:autoTitleDeleted val="0"/>
    <c:plotArea>
      <c:barChart>
        <c:barDir val="col"/>
        <c:grouping val="clustered"/>
        <c:varyColors val="0"/>
        <c:ser>
          <c:idx val="0"/>
          <c:order val="0"/>
          <c:tx>
            <c:strRef>
              <c:f>label 0</c:f>
              <c:strCache>
                <c:ptCount val="1"/>
                <c:pt idx="0">
                  <c:v>Packets lost</c:v>
                </c:pt>
              </c:strCache>
            </c:strRef>
          </c:tx>
          <c:spPr>
            <a:solidFill>
              <a:srgbClr val="1D4ED8"/>
            </a:solidFill>
            <a:ln w="0">
              <a:noFill/>
            </a:ln>
          </c:spPr>
          <c:invertIfNegative val="0"/>
          <c:dPt>
            <c:idx val="1"/>
            <c:invertIfNegative val="0"/>
            <c:spPr>
              <a:solidFill>
                <a:srgbClr val="B54B4B"/>
              </a:solidFill>
              <a:ln w="0">
                <a:noFill/>
              </a:ln>
            </c:spPr>
          </c:dPt>
          <c:dLbls>
            <c:dLbl>
              <c:idx val="1"/>
              <c:numFmt formatCode="0.00%" sourceLinked="0"/>
              <c:txPr>
                <a:bodyPr wrap="square"/>
                <a:lstStyle/>
                <a:p>
                  <a:pPr>
                    <a:defRPr sz="1875" b="1" u="none" strike="noStrike">
                      <a:solidFill>
                        <a:srgbClr val="132238"/>
                      </a:solidFill>
                      <a:uFillTx/>
                      <a:latin typeface="DejaVu Sans"/>
                    </a:defRPr>
                  </a:pPr>
                </a:p>
              </c:txPr>
              <c:dLblPos val="outEnd"/>
              <c:showLegendKey val="0"/>
              <c:showVal val="1"/>
              <c:showCatName val="0"/>
              <c:showSerName val="0"/>
              <c:showPercent val="0"/>
              <c:separator>; </c:separator>
            </c:dLbl>
            <c:numFmt formatCode="0.00%" sourceLinked="0"/>
            <c:txPr>
              <a:bodyPr wrap="square"/>
              <a:lstStyle/>
              <a:p>
                <a:pPr>
                  <a:defRPr sz="1875" b="1" u="none" strike="noStrike">
                    <a:solidFill>
                      <a:srgbClr val="132238"/>
                    </a:solidFill>
                    <a:uFillTx/>
                    <a:latin typeface="DejaVu Sans"/>
                    <a:ea typeface="DejaVu Sans"/>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RF + guard</c:v>
                </c:pt>
                <c:pt idx="1">
                  <c:v>RF only</c:v>
                </c:pt>
                <c:pt idx="2">
                  <c:v>Fixed rules</c:v>
                </c:pt>
              </c:strCache>
            </c:strRef>
          </c:cat>
          <c:val>
            <c:numRef>
              <c:f>0</c:f>
              <c:numCache>
                <c:formatCode>0.00%</c:formatCode>
                <c:ptCount val="3"/>
                <c:pt idx="0">
                  <c:v>0.00643552</c:v>
                </c:pt>
                <c:pt idx="1">
                  <c:v>0.09242278</c:v>
                </c:pt>
                <c:pt idx="2">
                  <c:v>0.00715894</c:v>
                </c:pt>
              </c:numCache>
            </c:numRef>
          </c:val>
        </c:ser>
        <c:gapWidth val="125"/>
        <c:overlap val="0"/>
        <c:axId val="22931116"/>
        <c:axId val="20690537"/>
      </c:barChart>
      <c:catAx>
        <c:axId val="22931116"/>
        <c:scaling>
          <c:orientation val="minMax"/>
        </c:scaling>
        <c:delete val="0"/>
        <c:axPos val="b"/>
        <c:numFmt formatCode="General" sourceLinked="0"/>
        <c:majorTickMark val="none"/>
        <c:minorTickMark val="none"/>
        <c:tickLblPos val="nextTo"/>
        <c:spPr>
          <a:ln w="9360">
            <a:solidFill>
              <a:srgbClr val="CBD5E1"/>
            </a:solidFill>
            <a:round/>
          </a:ln>
        </c:spPr>
        <c:txPr>
          <a:bodyPr/>
          <a:lstStyle/>
          <a:p>
            <a:pPr>
              <a:defRPr sz="1725" b="0" u="none" strike="noStrike">
                <a:solidFill>
                  <a:srgbClr val="132238"/>
                </a:solidFill>
                <a:uFillTx/>
                <a:latin typeface="DejaVu Sans"/>
                <a:ea typeface="DejaVu Sans"/>
              </a:defRPr>
            </a:pPr>
          </a:p>
        </c:txPr>
        <c:crossAx val="20690537"/>
        <c:crosses val="autoZero"/>
        <c:auto val="1"/>
        <c:lblAlgn val="ctr"/>
        <c:lblOffset val="100"/>
        <c:noMultiLvlLbl val="0"/>
      </c:catAx>
      <c:valAx>
        <c:axId val="20690537"/>
        <c:scaling>
          <c:orientation val="minMax"/>
          <c:max val="0.12"/>
          <c:min val="0"/>
        </c:scaling>
        <c:delete val="0"/>
        <c:axPos val="l"/>
        <c:majorGridlines>
          <c:spPr>
            <a:ln w="9360">
              <a:solidFill>
                <a:srgbClr val="E2E8F0"/>
              </a:solidFill>
              <a:round/>
            </a:ln>
          </c:spPr>
        </c:majorGridlines>
        <c:title>
          <c:tx>
            <c:rich>
              <a:bodyPr rot="-5400000"/>
              <a:lstStyle/>
              <a:p>
                <a:pPr>
                  <a:defRPr sz="1300" b="0" u="none" strike="noStrike">
                    <a:solidFill>
                      <a:srgbClr val="000000"/>
                    </a:solidFill>
                    <a:uFillTx/>
                    <a:latin typeface="Arial"/>
                  </a:defRPr>
                </a:pPr>
                <a:r>
                  <a:rPr sz="1000" b="1" u="none" strike="noStrike">
                    <a:solidFill>
                      <a:srgbClr val="000000"/>
                    </a:solidFill>
                    <a:uFillTx/>
                    <a:latin typeface="DejaVu Sans"/>
                    <a:ea typeface="DejaVu Sans"/>
                  </a:rPr>
                  <a:t>Packets lost</a:t>
                </a:r>
              </a:p>
            </c:rich>
          </c:tx>
          <c:overlay val="0"/>
          <c:spPr>
            <a:noFill/>
            <a:ln w="0">
              <a:noFill/>
            </a:ln>
          </c:spPr>
        </c:title>
        <c:numFmt formatCode="0.00%" sourceLinked="0"/>
        <c:majorTickMark val="none"/>
        <c:minorTickMark val="none"/>
        <c:tickLblPos val="nextTo"/>
        <c:spPr>
          <a:ln w="9360">
            <a:solidFill>
              <a:srgbClr val="D4D4D4"/>
            </a:solidFill>
            <a:round/>
          </a:ln>
        </c:spPr>
        <c:txPr>
          <a:bodyPr/>
          <a:lstStyle/>
          <a:p>
            <a:pPr>
              <a:defRPr sz="1575" b="0" u="none" strike="noStrike">
                <a:solidFill>
                  <a:srgbClr val="132238"/>
                </a:solidFill>
                <a:uFillTx/>
                <a:latin typeface="DejaVu Sans"/>
                <a:ea typeface="DejaVu Sans"/>
              </a:defRPr>
            </a:pPr>
          </a:p>
        </c:txPr>
        <c:crossAx val="22931116"/>
        <c:crosses val="autoZero"/>
        <c:crossBetween val="between"/>
      </c:valAx>
      <c:spPr>
        <a:solidFill>
          <a:srgbClr val="FFFFFF"/>
        </a:solidFill>
        <a:ln w="0">
          <a:noFill/>
        </a:ln>
      </c:spPr>
    </c:plotArea>
    <c:plotVisOnly val="1"/>
    <c:dispBlanksAs val="zero"/>
  </c:chart>
  <c:spPr>
    <a:solidFill>
      <a:srgbClr val="FFFFFF"/>
    </a:solid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colors2.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2.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pPr>
              <a:lnSpc>
                <a:spcPct val="90000"/>
              </a:lnSpc>
              <a:tabLst>
                <a:tab pos="0" algn="l"/>
              </a:tabLst>
            </a:pPr>
            <a:r>
              <a:rPr lang="en-US" sz="4400" b="0" u="none" strike="noStrike">
                <a:solidFill>
                  <a:schemeClr val="dk1"/>
                </a:solidFill>
                <a:effectLst/>
                <a:uFillTx/>
                <a:latin typeface="Aptos"/>
              </a:rPr>
              <a:t>Click to move the slide</a:t>
            </a:r>
            <a:endParaRPr lang="en-US" sz="4400" b="0" u="none" strike="noStrike">
              <a:solidFill>
                <a:schemeClr val="dk1"/>
              </a:solidFill>
              <a:effectLst/>
              <a:uFillTx/>
              <a:latin typeface="Aptos"/>
            </a:endParaRPr>
          </a:p>
        </p:txBody>
      </p:sp>
      <p:sp>
        <p:nvSpPr>
          <p:cNvPr id="1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C05DC2C6-7F90-40D4-8094-818DAD685624}"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Img"/>
          </p:nvPr>
        </p:nvSpPr>
        <p:spPr>
          <a:xfrm>
            <a:off x="0" y="0"/>
            <a:ext cx="0" cy="0"/>
          </a:xfrm>
          <a:prstGeom prst="rect">
            <a:avLst/>
          </a:prstGeom>
          <a:ln w="0">
            <a:noFill/>
          </a:ln>
        </p:spPr>
      </p:sp>
      <p:sp>
        <p:nvSpPr>
          <p:cNvPr id="8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The implemented scope is binary path degradation detection and automatic rerouting. Presenter: Vaibhav Bakshi, registration number 24BCE2052, matching the report. Sources: README.md and Self_Healing_SDN_Full_Report.docx. Delivery note: this trimmed project contains the final report and PPT, merged Python code, and one fitted forest. Old collections, campaign folders, and build/audit scripts are omitted. New demos save logs under .runtime/runs. The historical study numbers on these slides are unchanged.</a:t>
            </a:r>
            <a:endParaRPr lang="en-US" sz="2000" b="0" u="none" strike="noStrike">
              <a:solidFill>
                <a:srgbClr val="000000"/>
              </a:solidFill>
              <a:effectLst/>
              <a:uFillTx/>
              <a:latin typeface="Arial"/>
            </a:endParaRPr>
          </a:p>
        </p:txBody>
      </p:sp>
      <p:sp>
        <p:nvSpPr>
          <p:cNvPr id="89"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0" y="0"/>
            <a:ext cx="0" cy="0"/>
          </a:xfrm>
          <a:prstGeom prst="rect">
            <a:avLst/>
          </a:prstGeom>
          <a:ln w="0">
            <a:noFill/>
          </a:ln>
        </p:spPr>
      </p:sp>
      <p:sp>
        <p:nvSpPr>
          <p:cNvPr id="9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Motivation and research question from the report experiment protocol. Background on programmable forwarding: Kreutz et al., Software-defined networking: A comprehensive survey, 2014, https://arxiv.org/abs/1406.0440. Delivery note: this trimmed project contains the final report and PPT, merged Python code, and one fitted forest. Old collections, campaign folders, and build/audit scripts are omitted. New demos save logs under .runtime/runs. The historical study numbers on these slides are unchanged.</a:t>
            </a:r>
            <a:endParaRPr lang="en-US" sz="2000" b="0" u="none" strike="noStrike">
              <a:solidFill>
                <a:srgbClr val="000000"/>
              </a:solidFill>
              <a:effectLst/>
              <a:uFillTx/>
              <a:latin typeface="Arial"/>
            </a:endParaRPr>
          </a:p>
        </p:txBody>
      </p:sp>
      <p:sp>
        <p:nvSpPr>
          <p:cNvPr id="92"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sldImg"/>
          </p:nvPr>
        </p:nvSpPr>
        <p:spPr>
          <a:xfrm>
            <a:off x="0" y="0"/>
            <a:ext cx="0" cy="0"/>
          </a:xfrm>
          <a:prstGeom prst="rect">
            <a:avLst/>
          </a:prstGeom>
          <a:ln w="0">
            <a:noFill/>
          </a:ln>
        </p:spPr>
      </p:sp>
      <p:sp>
        <p:nvSpPr>
          <p:cNvPr id="9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Screenshot captured from the current dashboard on 27 October 2026. Recorded normal operation: 20261027T151646Z-776f29cf. The card measurement timestamp belongs to replay, not wall clock. Blue is the selected application branch. Source: dashboard/static/app.js, src/selfheal/telemetry.py.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.runtime/runs/20261027T151646Z-776f29cf/summary.json and metadata.json</a:t>
            </a:r>
            <a:endParaRPr lang="en-US" sz="2000" b="0" u="none" strike="noStrike">
              <a:solidFill>
                <a:srgbClr val="000000"/>
              </a:solidFill>
              <a:effectLst/>
              <a:uFillTx/>
              <a:latin typeface="Arial"/>
            </a:endParaRPr>
          </a:p>
        </p:txBody>
      </p:sp>
      <p:sp>
        <p:nvSpPr>
          <p:cNvPr id="95"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0" y="0"/>
            <a:ext cx="0" cy="0"/>
          </a:xfrm>
          <a:prstGeom prst="rect">
            <a:avLst/>
          </a:prstGeom>
          <a:ln w="0">
            <a:noFill/>
          </a:ln>
        </p:spPr>
      </p:sp>
      <p:sp>
        <p:nvSpPr>
          <p:cNvPr id="9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Current runs recorded on 27 October 2026. One run per listed condition.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.runtime/runs/20261027T150945Z-5b433df7/summary.json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.runtime/runs/20261027T151025Z-7bbacb9c/summary.json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.runtime/runs/20261027T151105Z-3f4808d8/summary.json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.runtime/runs/20261027T151646Z-776f29cf/summary.json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.runtime/runs/20261027T151725Z-f6caa845/summary.json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.runtime/runs/20261027T151807Z-9c06ddef/summary.json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.runtime/runs/20261027T151849Z-811520ad/summary.json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.runtime/runs/20261027T151928Z-180225f4/summary.json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Actual fault timestamps can differ from requested times. Both methods in the comparison use the same topology, offered load and requested timing.</a:t>
            </a:r>
            <a:endParaRPr lang="en-US" sz="2000" b="0" u="none" strike="noStrike">
              <a:solidFill>
                <a:srgbClr val="000000"/>
              </a:solidFill>
              <a:effectLst/>
              <a:uFillTx/>
              <a:latin typeface="Arial"/>
            </a:endParaRPr>
          </a:p>
        </p:txBody>
      </p:sp>
      <p:sp>
        <p:nvSpPr>
          <p:cNvPr id="98"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sldImg"/>
          </p:nvPr>
        </p:nvSpPr>
        <p:spPr>
          <a:xfrm>
            <a:off x="0" y="0"/>
            <a:ext cx="0" cy="0"/>
          </a:xfrm>
          <a:prstGeom prst="rect">
            <a:avLst/>
          </a:prstGeom>
          <a:ln w="0">
            <a:noFill/>
          </a:ln>
        </p:spPr>
      </p:sp>
      <p:sp>
        <p:nvSpPr>
          <p:cNvPr id="10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Sources: src/selfheal/core.py and learning.py. Fixed rules are loss &gt;=15%, RTT &gt;=40 ms, missing RTT, or utilization &gt;=90%. RF uses degraded score &gt;=0.65. Soft faults require two confirmations and observe the five-second hold-down. A down candidate is never selected.</a:t>
            </a:r>
            <a:endParaRPr lang="en-US" sz="2000" b="0" u="none" strike="noStrike">
              <a:solidFill>
                <a:srgbClr val="000000"/>
              </a:solidFill>
              <a:effectLst/>
              <a:uFillTx/>
              <a:latin typeface="Arial"/>
            </a:endParaRPr>
          </a:p>
        </p:txBody>
      </p:sp>
      <p:sp>
        <p:nvSpPr>
          <p:cNvPr id="101"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sldImg"/>
          </p:nvPr>
        </p:nvSpPr>
        <p:spPr>
          <a:xfrm>
            <a:off x="0" y="0"/>
            <a:ext cx="0" cy="0"/>
          </a:xfrm>
          <a:prstGeom prst="rect">
            <a:avLst/>
          </a:prstGeom>
          <a:ln w="0">
            <a:noFill/>
          </a:ln>
        </p:spPr>
      </p:sp>
      <p:sp>
        <p:nvSpPr>
          <p:cNvPr id="10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Current runs recorded on 27 October 2026. One run per listed condition.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.runtime/runs/20261027T151725Z-f6caa845/summary.json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Fault at 10.0093 s, route change at 12.1107 s. Detection and actuation 2.1014 s. Verified recovery 8.0222 s after fault onset. The recovery value includes the two-window confirmation process and is not exact packet-level outage duration.</a:t>
            </a:r>
            <a:endParaRPr lang="en-US" sz="2000" b="0" u="none" strike="noStrike">
              <a:solidFill>
                <a:srgbClr val="000000"/>
              </a:solidFill>
              <a:effectLst/>
              <a:uFillTx/>
              <a:latin typeface="Arial"/>
            </a:endParaRPr>
          </a:p>
        </p:txBody>
      </p:sp>
      <p:sp>
        <p:nvSpPr>
          <p:cNvPr id="104"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sldImg"/>
          </p:nvPr>
        </p:nvSpPr>
        <p:spPr>
          <a:xfrm>
            <a:off x="0" y="0"/>
            <a:ext cx="0" cy="0"/>
          </a:xfrm>
          <a:prstGeom prst="rect">
            <a:avLst/>
          </a:prstGeom>
          <a:ln w="0">
            <a:noFill/>
          </a:ln>
        </p:spPr>
      </p:sp>
      <p:sp>
        <p:nvSpPr>
          <p:cNvPr id="10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Current dashboard screenshots. Loss run 20261027T150945Z-5b433df7; delay run 20261027T151849Z-811520ad. The delay run used the guarded forest and does not prove reliable delay-only RF detection. Configured link delay is 60 ms in each direction. Source: dashboard/static/app.js, src/selfheal/telemetry.py and src/selfheal/network.py.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.runtime/runs/20261027T150945Z-5b433df7/summary.json and metadata.json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.runtime/runs/20261027T151849Z-811520ad/summary.json and metadata.json</a:t>
            </a:r>
            <a:endParaRPr lang="en-US" sz="2000" b="0" u="none" strike="noStrike">
              <a:solidFill>
                <a:srgbClr val="000000"/>
              </a:solidFill>
              <a:effectLst/>
              <a:uFillTx/>
              <a:latin typeface="Arial"/>
            </a:endParaRPr>
          </a:p>
        </p:txBody>
      </p:sp>
      <p:sp>
        <p:nvSpPr>
          <p:cNvPr id="107"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sldImg"/>
          </p:nvPr>
        </p:nvSpPr>
        <p:spPr>
          <a:xfrm>
            <a:off x="0" y="0"/>
            <a:ext cx="0" cy="0"/>
          </a:xfrm>
          <a:prstGeom prst="rect">
            <a:avLst/>
          </a:prstGeom>
          <a:ln w="0">
            <a:noFill/>
          </a:ln>
        </p:spPr>
      </p:sp>
      <p:sp>
        <p:nvSpPr>
          <p:cNvPr id="10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Utilization screenshot: 20261027T151807Z-9c06ddef. Estimate uses transmit-byte deltas on the last inter-switch link of each branch and the larger direction, normalized by configured capacity. It is not receiver goodput or a whole-path average. Counter position, queues and sampling can produce rates near or above nominal capacity. The 4.11 Mbps / 41.1% calculation is an illustrative reading, not a new receiver-throughput result.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.runtime/runs/20261027T151807Z-9c06ddef/summary.json and metadata.json</a:t>
            </a:r>
            <a:endParaRPr lang="en-US" sz="2000" b="0" u="none" strike="noStrike">
              <a:solidFill>
                <a:srgbClr val="000000"/>
              </a:solidFill>
              <a:effectLst/>
              <a:uFillTx/>
              <a:latin typeface="Arial"/>
            </a:endParaRPr>
          </a:p>
        </p:txBody>
      </p:sp>
      <p:sp>
        <p:nvSpPr>
          <p:cNvPr id="110"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sldImg"/>
          </p:nvPr>
        </p:nvSpPr>
        <p:spPr>
          <a:xfrm>
            <a:off x="0" y="0"/>
            <a:ext cx="0" cy="0"/>
          </a:xfrm>
          <a:prstGeom prst="rect">
            <a:avLst/>
          </a:prstGeom>
          <a:ln w="0">
            <a:noFill/>
          </a:ln>
        </p:spPr>
      </p:sp>
      <p:sp>
        <p:nvSpPr>
          <p:cNvPr id="11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Current runs recorded on 27 October 2026. One run per listed condition.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.runtime/runs/20261027T151646Z-776f29cf/summary.json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.runtime/runs/20261027T151725Z-f6caa845/summary.json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.runtime/runs/20261027T150945Z-5b433df7/summary.json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.runtime/runs/20261027T151807Z-9c06ddef/summary.json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.runtime/runs/20261027T151849Z-811520ad/summary.json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.runtime/runs/20261027T151928Z-180225f4/summary.json and events.jsonl</a:t>
            </a:r>
            <a:endParaRPr lang="en-US" sz="2000" b="0" u="none" strike="noStrike">
              <a:solidFill>
                <a:srgbClr val="000000"/>
              </a:solidFill>
              <a:effectLst/>
              <a:uFillTx/>
              <a:latin typeface="Arial"/>
            </a:endParaRPr>
          </a:p>
        </p:txBody>
      </p:sp>
      <p:sp>
        <p:nvSpPr>
          <p:cNvPr id="113"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sldImg"/>
          </p:nvPr>
        </p:nvSpPr>
        <p:spPr>
          <a:xfrm>
            <a:off x="0" y="0"/>
            <a:ext cx="0" cy="0"/>
          </a:xfrm>
          <a:prstGeom prst="rect">
            <a:avLst/>
          </a:prstGeom>
          <a:ln w="0">
            <a:noFill/>
          </a:ln>
        </p:spPr>
      </p:sp>
      <p:sp>
        <p:nvSpPr>
          <p:cNvPr id="11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Current runs recorded on 27 October 2026. One run per listed condition.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.runtime/runs/20261027T151725Z-f6caa845/summary.json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.runtime/runs/20261027T150945Z-5b433df7/summary.json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.runtime/runs/20261027T151807Z-9c06ddef/summary.json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.runtime/runs/20261027T151849Z-811520ad/summary.json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These are four individual guarded demonstrations, not averages. Normal and both_down have null recovery values and are intentionally omitted.</a:t>
            </a:r>
            <a:endParaRPr lang="en-US" sz="2000" b="0" u="none" strike="noStrike">
              <a:solidFill>
                <a:srgbClr val="000000"/>
              </a:solidFill>
              <a:effectLst/>
              <a:uFillTx/>
              <a:latin typeface="Arial"/>
            </a:endParaRPr>
          </a:p>
        </p:txBody>
      </p:sp>
      <p:sp>
        <p:nvSpPr>
          <p:cNvPr id="116"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sldImg"/>
          </p:nvPr>
        </p:nvSpPr>
        <p:spPr>
          <a:xfrm>
            <a:off x="0" y="0"/>
            <a:ext cx="0" cy="0"/>
          </a:xfrm>
          <a:prstGeom prst="rect">
            <a:avLst/>
          </a:prstGeom>
          <a:ln w="0">
            <a:noFill/>
          </a:ln>
        </p:spPr>
      </p:sp>
      <p:sp>
        <p:nvSpPr>
          <p:cNvPr id="11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Current runs recorded on 27 October 2026. One run per listed condition.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.runtime/runs/20261027T150945Z-5b433df7/summary.json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.runtime/runs/20261027T151025Z-7bbacb9c/summary.json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.runtime/runs/20261027T151105Z-3f4808d8/summary.json and events.jsonl</a:t>
            </a:r>
            <a:endParaRPr lang="en-US" sz="2000" b="0" u="none" strike="noStrike">
              <a:solidFill>
                <a:srgbClr val="000000"/>
              </a:solidFill>
              <a:effectLst/>
              <a:uFillTx/>
              <a:latin typeface="Arial"/>
            </a:endParaRPr>
          </a:p>
        </p:txBody>
      </p:sp>
      <p:sp>
        <p:nvSpPr>
          <p:cNvPr id="119"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0" y="0"/>
            <a:ext cx="0" cy="0"/>
          </a:xfrm>
          <a:prstGeom prst="rect">
            <a:avLst/>
          </a:prstGeom>
          <a:ln w="0">
            <a:noFill/>
          </a:ln>
        </p:spPr>
      </p:sp>
      <p:sp>
        <p:nvSpPr>
          <p:cNvPr id="12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Current runs recorded on 27 October 2026. One run per listed condition.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.runtime/runs/20261027T150945Z-5b433df7/summary.json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.runtime/runs/20261027T151025Z-7bbacb9c/summary.json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.runtime/runs/20261027T151105Z-3f4808d8/summary.json and events.jsonl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Literal chart values are the raw percentage measurements divided by 100 for percentage formatting. New embedded workbook snapshots are intentionally generated from these complete values. No historical chart data are used.</a:t>
            </a:r>
            <a:endParaRPr lang="en-US" sz="2000" b="0" u="none" strike="noStrike">
              <a:solidFill>
                <a:srgbClr val="000000"/>
              </a:solidFill>
              <a:effectLst/>
              <a:uFillTx/>
              <a:latin typeface="Arial"/>
            </a:endParaRPr>
          </a:p>
        </p:txBody>
      </p:sp>
      <p:sp>
        <p:nvSpPr>
          <p:cNvPr id="122" name="PlaceHolder 3"/>
          <p:cNvSpPr>
            <a:spLocks noGrp="1"/>
          </p:cNvSpPr>
          <p:nvPr>
            <p:ph type="sldNum" idx="1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0" y="0"/>
            <a:ext cx="0" cy="0"/>
          </a:xfrm>
          <a:prstGeom prst="rect">
            <a:avLst/>
          </a:prstGeom>
          <a:ln w="0">
            <a:noFill/>
          </a:ln>
        </p:spPr>
      </p:sp>
      <p:sp>
        <p:nvSpPr>
          <p:cNvPr id="12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training_report in src/selfheal/assets/detector.joblib, learning.py and core.py. There are 1,094 fitting rows, 544 validation rows (481 normal, 63 degraded), 200 trees, and a score threshold of 0.65. Dedicated loss runs were excluded from fitting. The original fitting datasets are absent. The stored score was not independently reproduced.</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Current runs recorded on 27 October 2026. One run per listed condition.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.runtime/runs/20261027T151025Z-7bbacb9c/summary.json and events.jsonl</a:t>
            </a:r>
            <a:endParaRPr lang="en-US" sz="2000" b="0" u="none" strike="noStrike">
              <a:solidFill>
                <a:srgbClr val="000000"/>
              </a:solidFill>
              <a:effectLst/>
              <a:uFillTx/>
              <a:latin typeface="Arial"/>
            </a:endParaRPr>
          </a:p>
        </p:txBody>
      </p:sp>
      <p:sp>
        <p:nvSpPr>
          <p:cNvPr id="125" name="PlaceHolder 3"/>
          <p:cNvSpPr>
            <a:spLocks noGrp="1"/>
          </p:cNvSpPr>
          <p:nvPr>
            <p:ph type="sldNum" idx="16"/>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0" y="0"/>
            <a:ext cx="0" cy="0"/>
          </a:xfrm>
          <a:prstGeom prst="rect">
            <a:avLst/>
          </a:prstGeom>
          <a:ln w="0">
            <a:noFill/>
          </a:ln>
        </p:spPr>
      </p:sp>
      <p:sp>
        <p:nvSpPr>
          <p:cNvPr id="12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Current runs recorded on 27 October 2026. One run per listed condition.</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ea typeface="Arial"/>
              </a:rPr>
              <a:t>.runtime/runs/20261027T150945Z-5b433df7/summary.json and events.jsonl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ea typeface="Arial"/>
              </a:rPr>
              <a:t>.runtime/runs/20261027T151025Z-7bbacb9c/summary.json and events.jsonl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ea typeface="Arial"/>
              </a:rPr>
              <a:t>.runtime/runs/20261027T151105Z-3f4808d8/summary.json and events.jsonl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ea typeface="Arial"/>
              </a:rPr>
              <a:t>.runtime/runs/20261027T151646Z-776f29cf/summary.json and events.jsonl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ea typeface="Arial"/>
              </a:rPr>
              <a:t>.runtime/runs/20261027T151725Z-f6caa845/summary.json and events.jsonl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ea typeface="Arial"/>
              </a:rPr>
              <a:t>.runtime/runs/20261027T151807Z-9c06ddef/summary.json and events.jsonl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ea typeface="Arial"/>
              </a:rPr>
              <a:t>.runtime/runs/20261027T151849Z-811520ad/summary.json and events.jsonl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ea typeface="Arial"/>
              </a:rPr>
              <a:t>.runtime/runs/20261027T151928Z-180225f4/summary.json and events.jsonl</a:t>
            </a:r>
            <a:endParaRPr lang="en-US" sz="2000" b="0" u="none" strike="noStrike">
              <a:solidFill>
                <a:srgbClr val="000000"/>
              </a:solidFill>
              <a:effectLst/>
              <a:uFillTx/>
              <a:latin typeface="Arial"/>
            </a:endParaRPr>
          </a:p>
        </p:txBody>
      </p:sp>
      <p:sp>
        <p:nvSpPr>
          <p:cNvPr id="128" name="PlaceHolder 3"/>
          <p:cNvSpPr>
            <a:spLocks noGrp="1"/>
          </p:cNvSpPr>
          <p:nvPr>
            <p:ph type="sldNum" idx="17"/>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l">
              <a:lnSpc>
                <a:spcPct val="90000"/>
              </a:lnSpc>
              <a:buNone/>
              <a:tabLst>
                <a:tab pos="0" algn="l"/>
              </a:tabLst>
              <a:defRPr lang="en-US" sz="4400" b="0" u="none" strike="noStrike">
                <a:solidFill>
                  <a:schemeClr val="dk1"/>
                </a:solidFill>
                <a:effectLst/>
                <a:uFillTx/>
                <a:latin typeface="Aptos"/>
                <a:ea typeface="Aptos"/>
              </a:defRPr>
            </a:lvl1pPr>
          </a:lstStyle>
          <a:p>
            <a:pPr indent="0" algn="l">
              <a:lnSpc>
                <a:spcPct val="90000"/>
              </a:lnSpc>
              <a:buNone/>
              <a:tabLst>
                <a:tab pos="0" algn="l"/>
              </a:tabLst>
            </a:pPr>
            <a:r>
              <a:rPr lang="en-US" sz="4400" b="0" u="none" strike="noStrike">
                <a:solidFill>
                  <a:schemeClr val="dk1"/>
                </a:solidFill>
                <a:effectLst/>
                <a:uFillTx/>
                <a:latin typeface="Aptos"/>
                <a:ea typeface="Aptos"/>
              </a:rPr>
              <a:t>Click to edit the title text format</a:t>
            </a:r>
            <a:endParaRPr lang="en-US" sz="4400" b="0" u="none" strike="noStrike">
              <a:solidFill>
                <a:schemeClr val="dk1"/>
              </a:solidFill>
              <a:effectLst/>
              <a:uFillTx/>
              <a:latin typeface="Aptos"/>
            </a:endParaRPr>
          </a:p>
        </p:txBody>
      </p:sp>
      <p:sp>
        <p:nvSpPr>
          <p:cNvPr id="3"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ptos"/>
                <a:ea typeface="Aptos"/>
              </a:defRPr>
            </a:lvl1pPr>
            <a:lvl2pPr lvl="1" algn="l">
              <a:lnSpc>
                <a:spcPct val="90000"/>
              </a:lnSpc>
              <a:spcBef>
                <a:spcPts val="1134"/>
              </a:spcBef>
              <a:buClr>
                <a:srgbClr val="000000"/>
              </a:buClr>
              <a:buSzPct val="75000"/>
              <a:buFont typeface="Symbol"/>
              <a:buChar char=""/>
              <a:defRPr lang="en-US" sz="2000" b="0" u="none" strike="noStrike">
                <a:solidFill>
                  <a:schemeClr val="dk1"/>
                </a:solidFill>
                <a:effectLst/>
                <a:uFillTx/>
                <a:latin typeface="Aptos"/>
                <a:ea typeface="Aptos"/>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ptos"/>
                <a:ea typeface="Aptos"/>
              </a:defRPr>
            </a:lvl3pPr>
            <a:lvl4pPr lvl="3" algn="l">
              <a:lnSpc>
                <a:spcPct val="90000"/>
              </a:lnSpc>
              <a:spcBef>
                <a:spcPts val="567"/>
              </a:spcBef>
              <a:buClr>
                <a:srgbClr val="000000"/>
              </a:buClr>
              <a:buSzPct val="75000"/>
              <a:buFont typeface="Symbol"/>
              <a:buChar char=""/>
              <a:defRPr lang="en-US" sz="1800" b="0" u="none" strike="noStrike">
                <a:solidFill>
                  <a:schemeClr val="dk1"/>
                </a:solidFill>
                <a:effectLst/>
                <a:uFillTx/>
                <a:latin typeface="Aptos"/>
                <a:ea typeface="Aptos"/>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ea typeface="Aptos"/>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ea typeface="Aptos"/>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ea typeface="Aptos"/>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ea typeface="Aptos"/>
              </a:rPr>
              <a:t>Click to edit the outline text format</a:t>
            </a:r>
            <a:endParaRPr lang="en-US" sz="2800" b="0" u="none" strike="noStrike">
              <a:solidFill>
                <a:schemeClr val="dk1"/>
              </a:solidFill>
              <a:effectLst/>
              <a:uFillTx/>
              <a:latin typeface="Aptos"/>
            </a:endParaRPr>
          </a:p>
          <a:p>
            <a:pPr marL="864000" lvl="1" indent="-324000" algn="l">
              <a:lnSpc>
                <a:spcPct val="90000"/>
              </a:lnSpc>
              <a:spcBef>
                <a:spcPts val="1134"/>
              </a:spcBef>
              <a:buClr>
                <a:srgbClr val="000000"/>
              </a:buClr>
              <a:buSzPct val="75000"/>
              <a:buFont typeface="Symbol"/>
              <a:buChar char=""/>
            </a:pPr>
            <a:r>
              <a:rPr lang="en-US" sz="2000" b="0" u="none" strike="noStrike">
                <a:solidFill>
                  <a:schemeClr val="dk1"/>
                </a:solidFill>
                <a:effectLst/>
                <a:uFillTx/>
                <a:latin typeface="Aptos"/>
                <a:ea typeface="Aptos"/>
              </a:rPr>
              <a:t>Second Outline Level</a:t>
            </a:r>
            <a:endParaRPr lang="en-US" sz="2000" b="0" u="none" strike="noStrike">
              <a:solidFill>
                <a:schemeClr val="dk1"/>
              </a:solidFill>
              <a:effectLst/>
              <a:uFillTx/>
              <a:latin typeface="Aptos"/>
            </a:endParaRP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ea typeface="Aptos"/>
              </a:rPr>
              <a:t>Third Outline Level</a:t>
            </a:r>
            <a:endParaRPr lang="en-US" sz="1800" b="0" u="none" strike="noStrike">
              <a:solidFill>
                <a:schemeClr val="dk1"/>
              </a:solidFill>
              <a:effectLst/>
              <a:uFillTx/>
              <a:latin typeface="Aptos"/>
            </a:endParaRPr>
          </a:p>
          <a:p>
            <a:pPr marL="1728000" lvl="3" indent="-216000" algn="l">
              <a:lnSpc>
                <a:spcPct val="90000"/>
              </a:lnSpc>
              <a:spcBef>
                <a:spcPts val="567"/>
              </a:spcBef>
              <a:buClr>
                <a:srgbClr val="000000"/>
              </a:buClr>
              <a:buSzPct val="75000"/>
              <a:buFont typeface="Symbol"/>
              <a:buChar char=""/>
            </a:pPr>
            <a:r>
              <a:rPr lang="en-US" sz="1800" b="0" u="none" strike="noStrike">
                <a:solidFill>
                  <a:schemeClr val="dk1"/>
                </a:solidFill>
                <a:effectLst/>
                <a:uFillTx/>
                <a:latin typeface="Aptos"/>
                <a:ea typeface="Aptos"/>
              </a:rPr>
              <a:t>Fourth Outline Level</a:t>
            </a:r>
            <a:endParaRPr lang="en-US" sz="1800" b="0" u="none" strike="noStrike">
              <a:solidFill>
                <a:schemeClr val="dk1"/>
              </a:solidFill>
              <a:effectLst/>
              <a:uFillTx/>
              <a:latin typeface="Aptos"/>
            </a:endParaRP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ea typeface="Aptos"/>
              </a:rPr>
              <a:t>Fifth Outline Level</a:t>
            </a:r>
            <a:endParaRPr lang="en-US" sz="2000" b="0" u="none" strike="noStrike">
              <a:solidFill>
                <a:schemeClr val="dk1"/>
              </a:solidFill>
              <a:effectLst/>
              <a:uFillTx/>
              <a:latin typeface="Aptos"/>
            </a:endParaRP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ea typeface="Aptos"/>
              </a:rPr>
              <a:t>Sixth Outline Level</a:t>
            </a:r>
            <a:endParaRPr lang="en-US" sz="2000" b="0" u="none" strike="noStrike">
              <a:solidFill>
                <a:schemeClr val="dk1"/>
              </a:solidFill>
              <a:effectLst/>
              <a:uFillTx/>
              <a:latin typeface="Aptos"/>
            </a:endParaRP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ea typeface="Aptos"/>
              </a:rPr>
              <a:t>Seventh Outline Level</a:t>
            </a:r>
            <a:endParaRPr lang="en-US" sz="2000" b="0" u="none" strike="noStrik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533520"/>
            <a:ext cx="10819800" cy="837360"/>
          </a:xfrm>
          <a:prstGeom prst="rect">
            <a:avLst/>
          </a:prstGeom>
          <a:noFill/>
          <a:ln w="0">
            <a:noFill/>
          </a:ln>
        </p:spPr>
        <p:txBody>
          <a:bodyPr lIns="0" tIns="0" rIns="0" bIns="0" anchor="t">
            <a:normAutofit/>
          </a:bodyPr>
          <a:lstStyle>
            <a:lvl1pPr indent="0" algn="l">
              <a:lnSpc>
                <a:spcPct val="90000"/>
              </a:lnSpc>
              <a:buNone/>
              <a:tabLst>
                <a:tab pos="0" algn="l"/>
              </a:tabLst>
              <a:defRPr lang="en-US" sz="3300" b="0" u="none" strike="noStrike">
                <a:solidFill>
                  <a:schemeClr val="dk1"/>
                </a:solidFill>
                <a:effectLst/>
                <a:uFillTx/>
                <a:latin typeface="Aptos"/>
                <a:ea typeface="Aptos"/>
              </a:defRPr>
            </a:lvl1pPr>
          </a:lstStyle>
          <a:p>
            <a:pPr indent="0" algn="l">
              <a:lnSpc>
                <a:spcPct val="90000"/>
              </a:lnSpc>
              <a:buNone/>
              <a:tabLst>
                <a:tab pos="0" algn="l"/>
              </a:tabLst>
            </a:pPr>
            <a:r>
              <a:rPr lang="en-US" sz="3300" b="0" u="none" strike="noStrike">
                <a:solidFill>
                  <a:schemeClr val="dk1"/>
                </a:solidFill>
                <a:effectLst/>
                <a:uFillTx/>
                <a:latin typeface="Aptos"/>
                <a:ea typeface="Aptos"/>
              </a:rPr>
              <a:t>Click to edit the title text format</a:t>
            </a:r>
            <a:endParaRPr lang="en-US" sz="3300" b="0" u="none" strike="noStrike">
              <a:solidFill>
                <a:schemeClr val="dk1"/>
              </a:solidFill>
              <a:effectLst/>
              <a:uFillTx/>
              <a:latin typeface="Aptos"/>
            </a:endParaRPr>
          </a:p>
        </p:txBody>
      </p:sp>
      <p:sp>
        <p:nvSpPr>
          <p:cNvPr id="5" name="PlaceHolder 2"/>
          <p:cNvSpPr>
            <a:spLocks noGrp="1"/>
          </p:cNvSpPr>
          <p:nvPr>
            <p:ph type="body"/>
          </p:nvPr>
        </p:nvSpPr>
        <p:spPr>
          <a:xfrm>
            <a:off x="685800" y="1905120"/>
            <a:ext cx="10819800" cy="42663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250" b="0" u="none" strike="noStrike">
                <a:solidFill>
                  <a:schemeClr val="dk1"/>
                </a:solidFill>
                <a:effectLst/>
                <a:uFillTx/>
                <a:latin typeface="Aptos"/>
                <a:ea typeface="Aptos"/>
              </a:defRPr>
            </a:lvl1pPr>
            <a:lvl2pPr lvl="1" algn="l">
              <a:lnSpc>
                <a:spcPct val="90000"/>
              </a:lnSpc>
              <a:spcBef>
                <a:spcPts val="1134"/>
              </a:spcBef>
              <a:buClr>
                <a:srgbClr val="000000"/>
              </a:buClr>
              <a:buSzPct val="75000"/>
              <a:buFont typeface="Symbol"/>
              <a:buChar char=""/>
              <a:defRPr lang="en-US" sz="2250" b="0" u="none" strike="noStrike">
                <a:solidFill>
                  <a:schemeClr val="dk1"/>
                </a:solidFill>
                <a:effectLst/>
                <a:uFillTx/>
                <a:latin typeface="Aptos"/>
                <a:ea typeface="Aptos"/>
              </a:defRPr>
            </a:lvl2pPr>
            <a:lvl3pPr lvl="2" algn="l">
              <a:lnSpc>
                <a:spcPct val="90000"/>
              </a:lnSpc>
              <a:spcBef>
                <a:spcPts val="850"/>
              </a:spcBef>
              <a:buClr>
                <a:srgbClr val="000000"/>
              </a:buClr>
              <a:buSzPct val="45000"/>
              <a:buFont typeface="Wingdings" charset="2"/>
              <a:buChar char=""/>
              <a:defRPr lang="en-US" sz="2250" b="0" u="none" strike="noStrike">
                <a:solidFill>
                  <a:schemeClr val="dk1"/>
                </a:solidFill>
                <a:effectLst/>
                <a:uFillTx/>
                <a:latin typeface="Aptos"/>
                <a:ea typeface="Aptos"/>
              </a:defRPr>
            </a:lvl3pPr>
            <a:lvl4pPr lvl="3" algn="l">
              <a:lnSpc>
                <a:spcPct val="90000"/>
              </a:lnSpc>
              <a:spcBef>
                <a:spcPts val="567"/>
              </a:spcBef>
              <a:buClr>
                <a:srgbClr val="000000"/>
              </a:buClr>
              <a:buSzPct val="75000"/>
              <a:buFont typeface="Symbol"/>
              <a:buChar char=""/>
              <a:defRPr lang="en-US" sz="2250" b="0" u="none" strike="noStrike">
                <a:solidFill>
                  <a:schemeClr val="dk1"/>
                </a:solidFill>
                <a:effectLst/>
                <a:uFillTx/>
                <a:latin typeface="Aptos"/>
                <a:ea typeface="Aptos"/>
              </a:defRPr>
            </a:lvl4pPr>
            <a:lvl5pPr lvl="4"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ea typeface="Aptos"/>
              </a:defRPr>
            </a:lvl5pPr>
            <a:lvl6pPr lvl="5"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ea typeface="Aptos"/>
              </a:defRPr>
            </a:lvl6pPr>
            <a:lvl7pPr lvl="6"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ea typeface="Aptos"/>
              </a:defRPr>
            </a:lvl7pPr>
          </a:lstStyle>
          <a:p>
            <a:pPr marL="228600" indent="-228600" algn="l">
              <a:lnSpc>
                <a:spcPct val="90000"/>
              </a:lnSpc>
              <a:spcBef>
                <a:spcPts val="1417"/>
              </a:spcBef>
              <a:buClr>
                <a:srgbClr val="000000"/>
              </a:buClr>
              <a:buSzPct val="45000"/>
              <a:buFont typeface="Wingdings" charset="2"/>
              <a:buChar char=""/>
            </a:pPr>
            <a:r>
              <a:rPr lang="en-US" sz="2250" b="0" u="none" strike="noStrike">
                <a:solidFill>
                  <a:schemeClr val="dk1"/>
                </a:solidFill>
                <a:effectLst/>
                <a:uFillTx/>
                <a:latin typeface="Aptos"/>
                <a:ea typeface="Aptos"/>
              </a:rPr>
              <a:t>Click to edit the outline text format</a:t>
            </a:r>
            <a:endParaRPr lang="en-US" sz="225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a:buChar char=""/>
            </a:pPr>
            <a:r>
              <a:rPr lang="en-US" sz="2250" b="0" u="none" strike="noStrike">
                <a:solidFill>
                  <a:schemeClr val="dk1"/>
                </a:solidFill>
                <a:effectLst/>
                <a:uFillTx/>
                <a:latin typeface="Aptos"/>
                <a:ea typeface="Aptos"/>
              </a:rPr>
              <a:t>Second Outline Level</a:t>
            </a:r>
            <a:endParaRPr lang="en-US" sz="225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250" b="0" u="none" strike="noStrike">
                <a:solidFill>
                  <a:schemeClr val="dk1"/>
                </a:solidFill>
                <a:effectLst/>
                <a:uFillTx/>
                <a:latin typeface="Aptos"/>
                <a:ea typeface="Aptos"/>
              </a:rPr>
              <a:t>Third Outline Level</a:t>
            </a:r>
            <a:endParaRPr lang="en-US" sz="225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a:buChar char=""/>
            </a:pPr>
            <a:r>
              <a:rPr lang="en-US" sz="2250" b="0" u="none" strike="noStrike">
                <a:solidFill>
                  <a:schemeClr val="dk1"/>
                </a:solidFill>
                <a:effectLst/>
                <a:uFillTx/>
                <a:latin typeface="Aptos"/>
                <a:ea typeface="Aptos"/>
              </a:rPr>
              <a:t>Fourth Outline Level</a:t>
            </a:r>
            <a:endParaRPr lang="en-US" sz="225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ea typeface="Aptos"/>
              </a:rPr>
              <a:t>Fifth Outline Level</a:t>
            </a:r>
            <a:endParaRPr lang="en-US" sz="225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ea typeface="Aptos"/>
              </a:rPr>
              <a:t>Sixth Outline Level</a:t>
            </a:r>
            <a:endParaRPr lang="en-US" sz="225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ea typeface="Aptos"/>
              </a:rPr>
              <a:t>Seventh Outline Level</a:t>
            </a:r>
            <a:endParaRPr lang="en-US" sz="2250" b="0" u="none" strike="noStrike">
              <a:solidFill>
                <a:schemeClr val="dk1"/>
              </a:solidFill>
              <a:effectLst/>
              <a:uFillTx/>
              <a:latin typeface="Apto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1219320" y="2857680"/>
            <a:ext cx="9752760" cy="1142280"/>
          </a:xfrm>
          <a:prstGeom prst="rect">
            <a:avLst/>
          </a:prstGeom>
          <a:noFill/>
          <a:ln w="0">
            <a:noFill/>
          </a:ln>
        </p:spPr>
        <p:txBody>
          <a:bodyPr lIns="0" tIns="0" rIns="0" bIns="0" anchor="ctr">
            <a:normAutofit/>
          </a:bodyPr>
          <a:lstStyle>
            <a:lvl1pPr indent="0" algn="l">
              <a:lnSpc>
                <a:spcPct val="90000"/>
              </a:lnSpc>
              <a:buNone/>
              <a:tabLst>
                <a:tab pos="0" algn="l"/>
              </a:tabLst>
              <a:defRPr lang="en-US" sz="4200" b="0" u="none" strike="noStrike">
                <a:solidFill>
                  <a:schemeClr val="dk1"/>
                </a:solidFill>
                <a:effectLst/>
                <a:uFillTx/>
                <a:latin typeface="Aptos"/>
                <a:ea typeface="Aptos"/>
              </a:defRPr>
            </a:lvl1pPr>
          </a:lstStyle>
          <a:p>
            <a:pPr indent="0" algn="l">
              <a:lnSpc>
                <a:spcPct val="90000"/>
              </a:lnSpc>
              <a:buNone/>
              <a:tabLst>
                <a:tab pos="0" algn="l"/>
              </a:tabLst>
            </a:pPr>
            <a:r>
              <a:rPr lang="en-US" sz="4200" b="0" u="none" strike="noStrike">
                <a:solidFill>
                  <a:schemeClr val="dk1"/>
                </a:solidFill>
                <a:effectLst/>
                <a:uFillTx/>
                <a:latin typeface="Aptos"/>
                <a:ea typeface="Aptos"/>
              </a:rPr>
              <a:t>Click to edit the title text format</a:t>
            </a:r>
            <a:endParaRPr lang="en-US" sz="4200" b="0" u="none" strike="noStrike">
              <a:solidFill>
                <a:schemeClr val="dk1"/>
              </a:solidFill>
              <a:effectLst/>
              <a:uFillTx/>
              <a:latin typeface="Aptos"/>
            </a:endParaRPr>
          </a:p>
        </p:txBody>
      </p:sp>
      <p:sp>
        <p:nvSpPr>
          <p:cNvPr id="7"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1219320" y="2590920"/>
            <a:ext cx="9752760" cy="990000"/>
          </a:xfrm>
          <a:prstGeom prst="rect">
            <a:avLst/>
          </a:prstGeom>
          <a:noFill/>
          <a:ln w="0">
            <a:noFill/>
          </a:ln>
        </p:spPr>
        <p:txBody>
          <a:bodyPr lIns="0" tIns="0" rIns="0" bIns="0" anchor="ctr">
            <a:normAutofit/>
          </a:bodyPr>
          <a:lstStyle>
            <a:lvl1pPr indent="0" algn="l">
              <a:lnSpc>
                <a:spcPct val="90000"/>
              </a:lnSpc>
              <a:buNone/>
              <a:tabLst>
                <a:tab pos="0" algn="l"/>
              </a:tabLst>
              <a:defRPr lang="en-US" sz="4800" b="0" u="none" strike="noStrike">
                <a:solidFill>
                  <a:schemeClr val="dk1"/>
                </a:solidFill>
                <a:effectLst/>
                <a:uFillTx/>
                <a:latin typeface="Aptos"/>
                <a:ea typeface="Aptos"/>
              </a:defRPr>
            </a:lvl1pPr>
          </a:lstStyle>
          <a:p>
            <a:pPr indent="0" algn="l">
              <a:lnSpc>
                <a:spcPct val="90000"/>
              </a:lnSpc>
              <a:buNone/>
              <a:tabLst>
                <a:tab pos="0" algn="l"/>
              </a:tabLst>
            </a:pPr>
            <a:r>
              <a:rPr lang="en-US" sz="4800" b="0" u="none" strike="noStrike">
                <a:solidFill>
                  <a:schemeClr val="dk1"/>
                </a:solidFill>
                <a:effectLst/>
                <a:uFillTx/>
                <a:latin typeface="Aptos"/>
                <a:ea typeface="Aptos"/>
              </a:rPr>
              <a:t>Click to edit the title text format</a:t>
            </a:r>
            <a:endParaRPr lang="en-US" sz="4800" b="0" u="none" strike="noStrike">
              <a:solidFill>
                <a:schemeClr val="dk1"/>
              </a:solidFill>
              <a:effectLst/>
              <a:uFillTx/>
              <a:latin typeface="Apto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wo Column">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533520"/>
            <a:ext cx="10819800" cy="837360"/>
          </a:xfrm>
          <a:prstGeom prst="rect">
            <a:avLst/>
          </a:prstGeom>
          <a:noFill/>
          <a:ln w="0">
            <a:noFill/>
          </a:ln>
        </p:spPr>
        <p:txBody>
          <a:bodyPr lIns="0" tIns="0" rIns="0" bIns="0" anchor="t">
            <a:normAutofit/>
          </a:bodyPr>
          <a:lstStyle>
            <a:lvl1pPr indent="0" algn="l">
              <a:lnSpc>
                <a:spcPct val="90000"/>
              </a:lnSpc>
              <a:buNone/>
              <a:tabLst>
                <a:tab pos="0" algn="l"/>
              </a:tabLst>
              <a:defRPr lang="en-US" sz="3300" b="0" u="none" strike="noStrike">
                <a:solidFill>
                  <a:schemeClr val="dk1"/>
                </a:solidFill>
                <a:effectLst/>
                <a:uFillTx/>
                <a:latin typeface="Aptos"/>
                <a:ea typeface="Aptos"/>
              </a:defRPr>
            </a:lvl1pPr>
          </a:lstStyle>
          <a:p>
            <a:pPr indent="0" algn="l">
              <a:lnSpc>
                <a:spcPct val="90000"/>
              </a:lnSpc>
              <a:buNone/>
              <a:tabLst>
                <a:tab pos="0" algn="l"/>
              </a:tabLst>
            </a:pPr>
            <a:r>
              <a:rPr lang="en-US" sz="3300" b="0" u="none" strike="noStrike">
                <a:solidFill>
                  <a:schemeClr val="dk1"/>
                </a:solidFill>
                <a:effectLst/>
                <a:uFillTx/>
                <a:latin typeface="Aptos"/>
                <a:ea typeface="Aptos"/>
              </a:rPr>
              <a:t>Click to edit the title text format</a:t>
            </a:r>
            <a:endParaRPr lang="en-US" sz="3300" b="0" u="none" strike="noStrike">
              <a:solidFill>
                <a:schemeClr val="dk1"/>
              </a:solidFill>
              <a:effectLst/>
              <a:uFillTx/>
              <a:latin typeface="Aptos"/>
            </a:endParaRPr>
          </a:p>
        </p:txBody>
      </p:sp>
      <p:sp>
        <p:nvSpPr>
          <p:cNvPr id="10" name="PlaceHolder 2"/>
          <p:cNvSpPr>
            <a:spLocks noGrp="1"/>
          </p:cNvSpPr>
          <p:nvPr>
            <p:ph type="body"/>
          </p:nvPr>
        </p:nvSpPr>
        <p:spPr>
          <a:xfrm>
            <a:off x="685800" y="1905120"/>
            <a:ext cx="5028480" cy="42663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100" b="0" u="none" strike="noStrike">
                <a:solidFill>
                  <a:schemeClr val="dk1"/>
                </a:solidFill>
                <a:effectLst/>
                <a:uFillTx/>
                <a:latin typeface="Aptos"/>
                <a:ea typeface="Aptos"/>
              </a:defRPr>
            </a:lvl1pPr>
            <a:lvl2pPr lvl="1" algn="l">
              <a:lnSpc>
                <a:spcPct val="90000"/>
              </a:lnSpc>
              <a:spcBef>
                <a:spcPts val="1134"/>
              </a:spcBef>
              <a:buClr>
                <a:srgbClr val="000000"/>
              </a:buClr>
              <a:buSzPct val="75000"/>
              <a:buFont typeface="Symbol"/>
              <a:buChar char=""/>
              <a:defRPr lang="en-US" sz="2100" b="0" u="none" strike="noStrike">
                <a:solidFill>
                  <a:schemeClr val="dk1"/>
                </a:solidFill>
                <a:effectLst/>
                <a:uFillTx/>
                <a:latin typeface="Aptos"/>
                <a:ea typeface="Aptos"/>
              </a:defRPr>
            </a:lvl2pPr>
            <a:lvl3pPr lvl="2" algn="l">
              <a:lnSpc>
                <a:spcPct val="90000"/>
              </a:lnSpc>
              <a:spcBef>
                <a:spcPts val="850"/>
              </a:spcBef>
              <a:buClr>
                <a:srgbClr val="000000"/>
              </a:buClr>
              <a:buSzPct val="45000"/>
              <a:buFont typeface="Wingdings" charset="2"/>
              <a:buChar char=""/>
              <a:defRPr lang="en-US" sz="2100" b="0" u="none" strike="noStrike">
                <a:solidFill>
                  <a:schemeClr val="dk1"/>
                </a:solidFill>
                <a:effectLst/>
                <a:uFillTx/>
                <a:latin typeface="Aptos"/>
                <a:ea typeface="Aptos"/>
              </a:defRPr>
            </a:lvl3pPr>
            <a:lvl4pPr lvl="3" algn="l">
              <a:lnSpc>
                <a:spcPct val="90000"/>
              </a:lnSpc>
              <a:spcBef>
                <a:spcPts val="567"/>
              </a:spcBef>
              <a:buClr>
                <a:srgbClr val="000000"/>
              </a:buClr>
              <a:buSzPct val="75000"/>
              <a:buFont typeface="Symbol"/>
              <a:buChar char=""/>
              <a:defRPr lang="en-US" sz="2100" b="0" u="none" strike="noStrike">
                <a:solidFill>
                  <a:schemeClr val="dk1"/>
                </a:solidFill>
                <a:effectLst/>
                <a:uFillTx/>
                <a:latin typeface="Aptos"/>
                <a:ea typeface="Aptos"/>
              </a:defRPr>
            </a:lvl4pPr>
            <a:lvl5pPr lvl="4"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ea typeface="Aptos"/>
              </a:defRPr>
            </a:lvl5pPr>
            <a:lvl6pPr lvl="5"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ea typeface="Aptos"/>
              </a:defRPr>
            </a:lvl6pPr>
            <a:lvl7pPr lvl="6"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ea typeface="Aptos"/>
              </a:defRPr>
            </a:lvl7pPr>
          </a:lstStyle>
          <a:p>
            <a:pPr marL="228600" indent="-228600" algn="l">
              <a:lnSpc>
                <a:spcPct val="90000"/>
              </a:lnSpc>
              <a:spcBef>
                <a:spcPts val="1417"/>
              </a:spcBef>
              <a:buClr>
                <a:srgbClr val="000000"/>
              </a:buClr>
              <a:buSzPct val="45000"/>
              <a:buFont typeface="Wingdings" charset="2"/>
              <a:buChar char=""/>
            </a:pPr>
            <a:r>
              <a:rPr lang="en-US" sz="2100" b="0" u="none" strike="noStrike">
                <a:solidFill>
                  <a:schemeClr val="dk1"/>
                </a:solidFill>
                <a:effectLst/>
                <a:uFillTx/>
                <a:latin typeface="Aptos"/>
                <a:ea typeface="Aptos"/>
              </a:rPr>
              <a:t>Click to edit the outline text format</a:t>
            </a:r>
            <a:endParaRPr lang="en-US" sz="210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a:buChar char=""/>
            </a:pPr>
            <a:r>
              <a:rPr lang="en-US" sz="2100" b="0" u="none" strike="noStrike">
                <a:solidFill>
                  <a:schemeClr val="dk1"/>
                </a:solidFill>
                <a:effectLst/>
                <a:uFillTx/>
                <a:latin typeface="Aptos"/>
                <a:ea typeface="Aptos"/>
              </a:rPr>
              <a:t>Second Outline Level</a:t>
            </a:r>
            <a:endParaRPr lang="en-US" sz="210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100" b="0" u="none" strike="noStrike">
                <a:solidFill>
                  <a:schemeClr val="dk1"/>
                </a:solidFill>
                <a:effectLst/>
                <a:uFillTx/>
                <a:latin typeface="Aptos"/>
                <a:ea typeface="Aptos"/>
              </a:rPr>
              <a:t>Third Outline Level</a:t>
            </a:r>
            <a:endParaRPr lang="en-US" sz="210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a:buChar char=""/>
            </a:pPr>
            <a:r>
              <a:rPr lang="en-US" sz="2100" b="0" u="none" strike="noStrike">
                <a:solidFill>
                  <a:schemeClr val="dk1"/>
                </a:solidFill>
                <a:effectLst/>
                <a:uFillTx/>
                <a:latin typeface="Aptos"/>
                <a:ea typeface="Aptos"/>
              </a:rPr>
              <a:t>Fourth Outline Level</a:t>
            </a:r>
            <a:endParaRPr lang="en-US" sz="210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ea typeface="Aptos"/>
              </a:rPr>
              <a:t>Fifth Outline Level</a:t>
            </a:r>
            <a:endParaRPr lang="en-US" sz="210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ea typeface="Aptos"/>
              </a:rPr>
              <a:t>Sixth Outline Level</a:t>
            </a:r>
            <a:endParaRPr lang="en-US" sz="210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ea typeface="Aptos"/>
              </a:rPr>
              <a:t>Seventh Outline Level</a:t>
            </a:r>
            <a:endParaRPr lang="en-US" sz="2100" b="0" u="none" strike="noStrike">
              <a:solidFill>
                <a:schemeClr val="dk1"/>
              </a:solidFill>
              <a:effectLst/>
              <a:uFillTx/>
              <a:latin typeface="Aptos"/>
            </a:endParaRPr>
          </a:p>
        </p:txBody>
      </p:sp>
      <p:sp>
        <p:nvSpPr>
          <p:cNvPr id="11" name="PlaceHolder 3"/>
          <p:cNvSpPr>
            <a:spLocks noGrp="1"/>
          </p:cNvSpPr>
          <p:nvPr>
            <p:ph type="body"/>
          </p:nvPr>
        </p:nvSpPr>
        <p:spPr>
          <a:xfrm>
            <a:off x="6477120" y="1905120"/>
            <a:ext cx="5028480" cy="42663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100" b="0" u="none" strike="noStrike">
                <a:solidFill>
                  <a:schemeClr val="dk1"/>
                </a:solidFill>
                <a:effectLst/>
                <a:uFillTx/>
                <a:latin typeface="Aptos"/>
                <a:ea typeface="Aptos"/>
              </a:defRPr>
            </a:lvl1pPr>
            <a:lvl2pPr lvl="1" algn="l">
              <a:lnSpc>
                <a:spcPct val="90000"/>
              </a:lnSpc>
              <a:spcBef>
                <a:spcPts val="1134"/>
              </a:spcBef>
              <a:buClr>
                <a:srgbClr val="000000"/>
              </a:buClr>
              <a:buSzPct val="75000"/>
              <a:buFont typeface="Symbol"/>
              <a:buChar char=""/>
              <a:defRPr lang="en-US" sz="2100" b="0" u="none" strike="noStrike">
                <a:solidFill>
                  <a:schemeClr val="dk1"/>
                </a:solidFill>
                <a:effectLst/>
                <a:uFillTx/>
                <a:latin typeface="Aptos"/>
                <a:ea typeface="Aptos"/>
              </a:defRPr>
            </a:lvl2pPr>
            <a:lvl3pPr lvl="2" algn="l">
              <a:lnSpc>
                <a:spcPct val="90000"/>
              </a:lnSpc>
              <a:spcBef>
                <a:spcPts val="850"/>
              </a:spcBef>
              <a:buClr>
                <a:srgbClr val="000000"/>
              </a:buClr>
              <a:buSzPct val="45000"/>
              <a:buFont typeface="Wingdings" charset="2"/>
              <a:buChar char=""/>
              <a:defRPr lang="en-US" sz="2100" b="0" u="none" strike="noStrike">
                <a:solidFill>
                  <a:schemeClr val="dk1"/>
                </a:solidFill>
                <a:effectLst/>
                <a:uFillTx/>
                <a:latin typeface="Aptos"/>
                <a:ea typeface="Aptos"/>
              </a:defRPr>
            </a:lvl3pPr>
            <a:lvl4pPr lvl="3" algn="l">
              <a:lnSpc>
                <a:spcPct val="90000"/>
              </a:lnSpc>
              <a:spcBef>
                <a:spcPts val="567"/>
              </a:spcBef>
              <a:buClr>
                <a:srgbClr val="000000"/>
              </a:buClr>
              <a:buSzPct val="75000"/>
              <a:buFont typeface="Symbol"/>
              <a:buChar char=""/>
              <a:defRPr lang="en-US" sz="2100" b="0" u="none" strike="noStrike">
                <a:solidFill>
                  <a:schemeClr val="dk1"/>
                </a:solidFill>
                <a:effectLst/>
                <a:uFillTx/>
                <a:latin typeface="Aptos"/>
                <a:ea typeface="Aptos"/>
              </a:defRPr>
            </a:lvl4pPr>
            <a:lvl5pPr lvl="4"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ea typeface="Aptos"/>
              </a:defRPr>
            </a:lvl5pPr>
            <a:lvl6pPr lvl="5"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ea typeface="Aptos"/>
              </a:defRPr>
            </a:lvl6pPr>
            <a:lvl7pPr lvl="6"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ea typeface="Aptos"/>
              </a:defRPr>
            </a:lvl7pPr>
          </a:lstStyle>
          <a:p>
            <a:pPr marL="228600" indent="-228600" algn="l">
              <a:lnSpc>
                <a:spcPct val="90000"/>
              </a:lnSpc>
              <a:spcBef>
                <a:spcPts val="1417"/>
              </a:spcBef>
              <a:buClr>
                <a:srgbClr val="000000"/>
              </a:buClr>
              <a:buSzPct val="45000"/>
              <a:buFont typeface="Wingdings" charset="2"/>
              <a:buChar char=""/>
            </a:pPr>
            <a:r>
              <a:rPr lang="en-US" sz="2100" b="0" u="none" strike="noStrike">
                <a:solidFill>
                  <a:schemeClr val="dk1"/>
                </a:solidFill>
                <a:effectLst/>
                <a:uFillTx/>
                <a:latin typeface="Aptos"/>
                <a:ea typeface="Aptos"/>
              </a:rPr>
              <a:t>Click to edit the outline text format</a:t>
            </a:r>
            <a:endParaRPr lang="en-US" sz="210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a:buChar char=""/>
            </a:pPr>
            <a:r>
              <a:rPr lang="en-US" sz="2100" b="0" u="none" strike="noStrike">
                <a:solidFill>
                  <a:schemeClr val="dk1"/>
                </a:solidFill>
                <a:effectLst/>
                <a:uFillTx/>
                <a:latin typeface="Aptos"/>
                <a:ea typeface="Aptos"/>
              </a:rPr>
              <a:t>Second Outline Level</a:t>
            </a:r>
            <a:endParaRPr lang="en-US" sz="210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100" b="0" u="none" strike="noStrike">
                <a:solidFill>
                  <a:schemeClr val="dk1"/>
                </a:solidFill>
                <a:effectLst/>
                <a:uFillTx/>
                <a:latin typeface="Aptos"/>
                <a:ea typeface="Aptos"/>
              </a:rPr>
              <a:t>Third Outline Level</a:t>
            </a:r>
            <a:endParaRPr lang="en-US" sz="210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a:buChar char=""/>
            </a:pPr>
            <a:r>
              <a:rPr lang="en-US" sz="2100" b="0" u="none" strike="noStrike">
                <a:solidFill>
                  <a:schemeClr val="dk1"/>
                </a:solidFill>
                <a:effectLst/>
                <a:uFillTx/>
                <a:latin typeface="Aptos"/>
                <a:ea typeface="Aptos"/>
              </a:rPr>
              <a:t>Fourth Outline Level</a:t>
            </a:r>
            <a:endParaRPr lang="en-US" sz="210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ea typeface="Aptos"/>
              </a:rPr>
              <a:t>Fifth Outline Level</a:t>
            </a:r>
            <a:endParaRPr lang="en-US" sz="210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ea typeface="Aptos"/>
              </a:rPr>
              <a:t>Sixth Outline Level</a:t>
            </a:r>
            <a:endParaRPr lang="en-US" sz="210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ea typeface="Aptos"/>
              </a:rPr>
              <a:t>Seventh Outline Level</a:t>
            </a:r>
            <a:endParaRPr lang="en-US" sz="2100" b="0" u="none" strike="noStrike">
              <a:solidFill>
                <a:schemeClr val="dk1"/>
              </a:solidFill>
              <a:effectLst/>
              <a:uFillTx/>
              <a:latin typeface="Aptos"/>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One Column">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533520"/>
            <a:ext cx="10819800" cy="837360"/>
          </a:xfrm>
          <a:prstGeom prst="rect">
            <a:avLst/>
          </a:prstGeom>
          <a:noFill/>
          <a:ln w="0">
            <a:noFill/>
          </a:ln>
        </p:spPr>
        <p:txBody>
          <a:bodyPr lIns="0" tIns="0" rIns="0" bIns="0" anchor="t">
            <a:normAutofit/>
          </a:bodyPr>
          <a:lstStyle>
            <a:lvl1pPr indent="0" algn="l">
              <a:lnSpc>
                <a:spcPct val="90000"/>
              </a:lnSpc>
              <a:buNone/>
              <a:tabLst>
                <a:tab pos="0" algn="l"/>
              </a:tabLst>
              <a:defRPr lang="en-US" sz="3300" b="0" u="none" strike="noStrike">
                <a:solidFill>
                  <a:schemeClr val="dk1"/>
                </a:solidFill>
                <a:effectLst/>
                <a:uFillTx/>
                <a:latin typeface="Aptos"/>
                <a:ea typeface="Aptos"/>
              </a:defRPr>
            </a:lvl1pPr>
          </a:lstStyle>
          <a:p>
            <a:pPr indent="0" algn="l">
              <a:lnSpc>
                <a:spcPct val="90000"/>
              </a:lnSpc>
              <a:buNone/>
              <a:tabLst>
                <a:tab pos="0" algn="l"/>
              </a:tabLst>
            </a:pPr>
            <a:r>
              <a:rPr lang="en-US" sz="3300" b="0" u="none" strike="noStrike">
                <a:solidFill>
                  <a:schemeClr val="dk1"/>
                </a:solidFill>
                <a:effectLst/>
                <a:uFillTx/>
                <a:latin typeface="Aptos"/>
                <a:ea typeface="Aptos"/>
              </a:rPr>
              <a:t>Click to edit the title text format</a:t>
            </a:r>
            <a:endParaRPr lang="en-US" sz="3300" b="0" u="none" strike="noStrike">
              <a:solidFill>
                <a:schemeClr val="dk1"/>
              </a:solidFill>
              <a:effectLst/>
              <a:uFillTx/>
              <a:latin typeface="Aptos"/>
            </a:endParaRPr>
          </a:p>
        </p:txBody>
      </p:sp>
      <p:sp>
        <p:nvSpPr>
          <p:cNvPr id="13" name="PlaceHolder 2"/>
          <p:cNvSpPr>
            <a:spLocks noGrp="1"/>
          </p:cNvSpPr>
          <p:nvPr>
            <p:ph type="body"/>
          </p:nvPr>
        </p:nvSpPr>
        <p:spPr>
          <a:xfrm>
            <a:off x="685800" y="1905120"/>
            <a:ext cx="5028480" cy="42663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250" b="0" u="none" strike="noStrike">
                <a:solidFill>
                  <a:schemeClr val="dk1"/>
                </a:solidFill>
                <a:effectLst/>
                <a:uFillTx/>
                <a:latin typeface="Aptos"/>
                <a:ea typeface="Aptos"/>
              </a:defRPr>
            </a:lvl1pPr>
            <a:lvl2pPr lvl="1" algn="l">
              <a:lnSpc>
                <a:spcPct val="90000"/>
              </a:lnSpc>
              <a:spcBef>
                <a:spcPts val="1134"/>
              </a:spcBef>
              <a:buClr>
                <a:srgbClr val="000000"/>
              </a:buClr>
              <a:buSzPct val="75000"/>
              <a:buFont typeface="Symbol"/>
              <a:buChar char=""/>
              <a:defRPr lang="en-US" sz="2250" b="0" u="none" strike="noStrike">
                <a:solidFill>
                  <a:schemeClr val="dk1"/>
                </a:solidFill>
                <a:effectLst/>
                <a:uFillTx/>
                <a:latin typeface="Aptos"/>
                <a:ea typeface="Aptos"/>
              </a:defRPr>
            </a:lvl2pPr>
            <a:lvl3pPr lvl="2" algn="l">
              <a:lnSpc>
                <a:spcPct val="90000"/>
              </a:lnSpc>
              <a:spcBef>
                <a:spcPts val="850"/>
              </a:spcBef>
              <a:buClr>
                <a:srgbClr val="000000"/>
              </a:buClr>
              <a:buSzPct val="45000"/>
              <a:buFont typeface="Wingdings" charset="2"/>
              <a:buChar char=""/>
              <a:defRPr lang="en-US" sz="2250" b="0" u="none" strike="noStrike">
                <a:solidFill>
                  <a:schemeClr val="dk1"/>
                </a:solidFill>
                <a:effectLst/>
                <a:uFillTx/>
                <a:latin typeface="Aptos"/>
                <a:ea typeface="Aptos"/>
              </a:defRPr>
            </a:lvl3pPr>
            <a:lvl4pPr lvl="3" algn="l">
              <a:lnSpc>
                <a:spcPct val="90000"/>
              </a:lnSpc>
              <a:spcBef>
                <a:spcPts val="567"/>
              </a:spcBef>
              <a:buClr>
                <a:srgbClr val="000000"/>
              </a:buClr>
              <a:buSzPct val="75000"/>
              <a:buFont typeface="Symbol"/>
              <a:buChar char=""/>
              <a:defRPr lang="en-US" sz="2250" b="0" u="none" strike="noStrike">
                <a:solidFill>
                  <a:schemeClr val="dk1"/>
                </a:solidFill>
                <a:effectLst/>
                <a:uFillTx/>
                <a:latin typeface="Aptos"/>
                <a:ea typeface="Aptos"/>
              </a:defRPr>
            </a:lvl4pPr>
            <a:lvl5pPr lvl="4"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ea typeface="Aptos"/>
              </a:defRPr>
            </a:lvl5pPr>
            <a:lvl6pPr lvl="5"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ea typeface="Aptos"/>
              </a:defRPr>
            </a:lvl6pPr>
            <a:lvl7pPr lvl="6"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ea typeface="Aptos"/>
              </a:defRPr>
            </a:lvl7pPr>
          </a:lstStyle>
          <a:p>
            <a:pPr marL="228600" indent="-228600" algn="l">
              <a:lnSpc>
                <a:spcPct val="90000"/>
              </a:lnSpc>
              <a:spcBef>
                <a:spcPts val="1417"/>
              </a:spcBef>
              <a:buClr>
                <a:srgbClr val="000000"/>
              </a:buClr>
              <a:buSzPct val="45000"/>
              <a:buFont typeface="Wingdings" charset="2"/>
              <a:buChar char=""/>
            </a:pPr>
            <a:r>
              <a:rPr lang="en-US" sz="2250" b="0" u="none" strike="noStrike">
                <a:solidFill>
                  <a:schemeClr val="dk1"/>
                </a:solidFill>
                <a:effectLst/>
                <a:uFillTx/>
                <a:latin typeface="Aptos"/>
                <a:ea typeface="Aptos"/>
              </a:rPr>
              <a:t>Click to edit the outline text format</a:t>
            </a:r>
            <a:endParaRPr lang="en-US" sz="225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a:buChar char=""/>
            </a:pPr>
            <a:r>
              <a:rPr lang="en-US" sz="2250" b="0" u="none" strike="noStrike">
                <a:solidFill>
                  <a:schemeClr val="dk1"/>
                </a:solidFill>
                <a:effectLst/>
                <a:uFillTx/>
                <a:latin typeface="Aptos"/>
                <a:ea typeface="Aptos"/>
              </a:rPr>
              <a:t>Second Outline Level</a:t>
            </a:r>
            <a:endParaRPr lang="en-US" sz="225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250" b="0" u="none" strike="noStrike">
                <a:solidFill>
                  <a:schemeClr val="dk1"/>
                </a:solidFill>
                <a:effectLst/>
                <a:uFillTx/>
                <a:latin typeface="Aptos"/>
                <a:ea typeface="Aptos"/>
              </a:rPr>
              <a:t>Third Outline Level</a:t>
            </a:r>
            <a:endParaRPr lang="en-US" sz="225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a:buChar char=""/>
            </a:pPr>
            <a:r>
              <a:rPr lang="en-US" sz="2250" b="0" u="none" strike="noStrike">
                <a:solidFill>
                  <a:schemeClr val="dk1"/>
                </a:solidFill>
                <a:effectLst/>
                <a:uFillTx/>
                <a:latin typeface="Aptos"/>
                <a:ea typeface="Aptos"/>
              </a:rPr>
              <a:t>Fourth Outline Level</a:t>
            </a:r>
            <a:endParaRPr lang="en-US" sz="225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ea typeface="Aptos"/>
              </a:rPr>
              <a:t>Fifth Outline Level</a:t>
            </a:r>
            <a:endParaRPr lang="en-US" sz="225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ea typeface="Aptos"/>
              </a:rPr>
              <a:t>Sixth Outline Level</a:t>
            </a:r>
            <a:endParaRPr lang="en-US" sz="225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ea typeface="Aptos"/>
              </a:rPr>
              <a:t>Seventh Outline Level</a:t>
            </a:r>
            <a:endParaRPr lang="en-US" sz="225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3.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3.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
          <p:cNvSpPr/>
          <p:nvPr/>
        </p:nvSpPr>
        <p:spPr>
          <a:xfrm>
            <a:off x="609480" y="1047600"/>
            <a:ext cx="10953000" cy="195192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4800" b="1" u="none" strike="noStrike">
                <a:solidFill>
                  <a:srgbClr val="132238"/>
                </a:solidFill>
                <a:effectLst/>
                <a:uFillTx/>
                <a:latin typeface="DejaVu Sans"/>
                <a:ea typeface="DejaVu Sans"/>
              </a:rPr>
              <a:t>AI Assisted</a:t>
            </a:r>
            <a:endParaRPr lang="en-US" sz="4800" b="0" u="none" strike="noStrike">
              <a:solidFill>
                <a:srgbClr val="000000"/>
              </a:solidFill>
              <a:effectLst/>
              <a:uFillTx/>
              <a:latin typeface="Arial"/>
            </a:endParaRPr>
          </a:p>
          <a:p>
            <a:pPr>
              <a:lnSpc>
                <a:spcPct val="100000"/>
              </a:lnSpc>
            </a:pPr>
            <a:r>
              <a:rPr lang="en-US" sz="4800" b="1" u="none" strike="noStrike">
                <a:solidFill>
                  <a:srgbClr val="132238"/>
                </a:solidFill>
                <a:effectLst/>
                <a:uFillTx/>
                <a:latin typeface="DejaVu Sans"/>
                <a:ea typeface="DejaVu Sans"/>
              </a:rPr>
              <a:t>Self Healing SDN</a:t>
            </a:r>
            <a:endParaRPr lang="en-US" sz="4800" b="0" u="none" strike="noStrike">
              <a:solidFill>
                <a:srgbClr val="000000"/>
              </a:solidFill>
              <a:effectLst/>
              <a:uFillTx/>
              <a:latin typeface="Arial"/>
            </a:endParaRPr>
          </a:p>
        </p:txBody>
      </p:sp>
      <p:sp>
        <p:nvSpPr>
          <p:cNvPr id="21" name=""/>
          <p:cNvSpPr/>
          <p:nvPr/>
        </p:nvSpPr>
        <p:spPr>
          <a:xfrm>
            <a:off x="683640" y="3429000"/>
            <a:ext cx="10476720" cy="85644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2400" b="0" u="none" strike="noStrike">
                <a:solidFill>
                  <a:srgbClr val="1D4ED8"/>
                </a:solidFill>
                <a:effectLst/>
                <a:uFillTx/>
                <a:latin typeface="DejaVu Sans"/>
                <a:ea typeface="DejaVu Sans"/>
              </a:rPr>
              <a:t>Current demonstration results explained simply</a:t>
            </a:r>
            <a:endParaRPr lang="en-US" sz="2400" b="0" u="none" strike="noStrike">
              <a:solidFill>
                <a:srgbClr val="000000"/>
              </a:solidFill>
              <a:effectLst/>
              <a:uFillTx/>
              <a:latin typeface="Arial"/>
            </a:endParaRPr>
          </a:p>
        </p:txBody>
      </p:sp>
      <p:sp>
        <p:nvSpPr>
          <p:cNvPr id="22" name=""/>
          <p:cNvSpPr/>
          <p:nvPr/>
        </p:nvSpPr>
        <p:spPr>
          <a:xfrm>
            <a:off x="647640" y="5000760"/>
            <a:ext cx="10286280" cy="133308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1950" b="0" u="none" strike="noStrike">
                <a:solidFill>
                  <a:srgbClr val="132238"/>
                </a:solidFill>
                <a:effectLst/>
                <a:uFillTx/>
                <a:latin typeface="DejaVu Sans"/>
                <a:ea typeface="DejaVu Sans"/>
              </a:rPr>
              <a:t>BCSE308P Computer Networks Lab</a:t>
            </a:r>
            <a:endParaRPr lang="en-US" sz="1950" b="0" u="none" strike="noStrike">
              <a:solidFill>
                <a:srgbClr val="000000"/>
              </a:solidFill>
              <a:effectLst/>
              <a:uFillTx/>
              <a:latin typeface="Arial"/>
            </a:endParaRPr>
          </a:p>
          <a:p>
            <a:pPr>
              <a:lnSpc>
                <a:spcPct val="100000"/>
              </a:lnSpc>
            </a:pPr>
            <a:r>
              <a:rPr lang="en-US" sz="1950" b="0" u="none" strike="noStrike">
                <a:solidFill>
                  <a:srgbClr val="132238"/>
                </a:solidFill>
                <a:effectLst/>
                <a:uFillTx/>
                <a:latin typeface="DejaVu Sans"/>
                <a:ea typeface="DejaVu Sans"/>
              </a:rPr>
              <a:t>Fall Semester 2026–27</a:t>
            </a:r>
            <a:endParaRPr lang="en-US" sz="1950" b="0" u="none" strike="noStrike">
              <a:solidFill>
                <a:srgbClr val="000000"/>
              </a:solidFill>
              <a:effectLst/>
              <a:uFillTx/>
              <a:latin typeface="Arial"/>
            </a:endParaRPr>
          </a:p>
          <a:p>
            <a:pPr>
              <a:lnSpc>
                <a:spcPct val="100000"/>
              </a:lnSpc>
            </a:pPr>
            <a:r>
              <a:rPr lang="en-US" sz="1950" b="0" u="none" strike="noStrike">
                <a:solidFill>
                  <a:srgbClr val="132238"/>
                </a:solidFill>
                <a:effectLst/>
                <a:uFillTx/>
                <a:latin typeface="DejaVu Sans"/>
                <a:ea typeface="DejaVu Sans"/>
              </a:rPr>
              <a:t>24BCE2052</a:t>
            </a:r>
            <a:endParaRPr lang="en-US" sz="1950" b="0" u="none" strike="noStrike">
              <a:solidFill>
                <a:srgbClr val="000000"/>
              </a:solidFill>
              <a:effectLst/>
              <a:uFillTx/>
              <a:latin typeface="Arial"/>
            </a:endParaRPr>
          </a:p>
          <a:p>
            <a:pPr>
              <a:lnSpc>
                <a:spcPct val="100000"/>
              </a:lnSpc>
            </a:pPr>
            <a:r>
              <a:rPr lang="en-US" sz="1950" b="0" u="none" strike="noStrike">
                <a:solidFill>
                  <a:srgbClr val="132238"/>
                </a:solidFill>
                <a:effectLst/>
                <a:uFillTx/>
                <a:latin typeface="DejaVu Sans"/>
                <a:ea typeface="DejaVu Sans"/>
              </a:rPr>
              <a:t>Vaibhav Bakshi</a:t>
            </a:r>
            <a:endParaRPr lang="en-US" sz="1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
          <p:cNvSpPr/>
          <p:nvPr/>
        </p:nvSpPr>
        <p:spPr>
          <a:xfrm>
            <a:off x="609480" y="428760"/>
            <a:ext cx="10972080" cy="79956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3380" b="1" u="none" strike="noStrike">
                <a:solidFill>
                  <a:srgbClr val="132238"/>
                </a:solidFill>
                <a:effectLst/>
                <a:uFillTx/>
                <a:latin typeface="DejaVu Sans"/>
                <a:ea typeface="DejaVu Sans"/>
              </a:rPr>
              <a:t>What this project demonstrates</a:t>
            </a:r>
            <a:endParaRPr lang="en-US" sz="3380" b="0" u="none" strike="noStrike">
              <a:solidFill>
                <a:srgbClr val="000000"/>
              </a:solidFill>
              <a:effectLst/>
              <a:uFillTx/>
              <a:latin typeface="Arial"/>
            </a:endParaRPr>
          </a:p>
        </p:txBody>
      </p:sp>
      <p:sp>
        <p:nvSpPr>
          <p:cNvPr id="24" name=""/>
          <p:cNvSpPr/>
          <p:nvPr/>
        </p:nvSpPr>
        <p:spPr>
          <a:xfrm>
            <a:off x="609480" y="1523880"/>
            <a:ext cx="10476720" cy="76140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2020" b="0" u="none" strike="noStrike">
                <a:solidFill>
                  <a:srgbClr val="132238"/>
                </a:solidFill>
                <a:effectLst/>
                <a:uFillTx/>
                <a:latin typeface="DejaVu Sans"/>
                <a:ea typeface="DejaVu Sans"/>
              </a:rPr>
              <a:t>Two network paths connect the sender and receiver. The application starts on the primary path.</a:t>
            </a:r>
            <a:endParaRPr lang="en-US" sz="2020" b="0" u="none" strike="noStrike">
              <a:solidFill>
                <a:srgbClr val="000000"/>
              </a:solidFill>
              <a:effectLst/>
              <a:uFillTx/>
              <a:latin typeface="Arial"/>
            </a:endParaRPr>
          </a:p>
        </p:txBody>
      </p:sp>
      <p:sp>
        <p:nvSpPr>
          <p:cNvPr id="25" name=""/>
          <p:cNvSpPr/>
          <p:nvPr/>
        </p:nvSpPr>
        <p:spPr>
          <a:xfrm>
            <a:off x="609480" y="2457360"/>
            <a:ext cx="10476720" cy="76140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2020" b="0" u="none" strike="noStrike">
                <a:solidFill>
                  <a:srgbClr val="132238"/>
                </a:solidFill>
                <a:effectLst/>
                <a:uFillTx/>
                <a:latin typeface="DejaVu Sans"/>
                <a:ea typeface="DejaVu Sans"/>
              </a:rPr>
              <a:t>The controller checks both paths. If the selected path fails and the other is healthy, it changes the forwarding rules.</a:t>
            </a:r>
            <a:endParaRPr lang="en-US" sz="2020" b="0" u="none" strike="noStrike">
              <a:solidFill>
                <a:srgbClr val="000000"/>
              </a:solidFill>
              <a:effectLst/>
              <a:uFillTx/>
              <a:latin typeface="Arial"/>
            </a:endParaRPr>
          </a:p>
        </p:txBody>
      </p:sp>
      <p:sp>
        <p:nvSpPr>
          <p:cNvPr id="26" name=""/>
          <p:cNvSpPr/>
          <p:nvPr/>
        </p:nvSpPr>
        <p:spPr>
          <a:xfrm>
            <a:off x="609480" y="3390840"/>
            <a:ext cx="10476720" cy="76140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2020" b="0" u="none" strike="noStrike">
                <a:solidFill>
                  <a:srgbClr val="132238"/>
                </a:solidFill>
                <a:effectLst/>
                <a:uFillTx/>
                <a:latin typeface="DejaVu Sans"/>
                <a:ea typeface="DejaVu Sans"/>
              </a:rPr>
              <a:t>We test whether communication returns while the injected fault is still present.</a:t>
            </a:r>
            <a:endParaRPr lang="en-US" sz="2020" b="0" u="none" strike="noStrike">
              <a:solidFill>
                <a:srgbClr val="000000"/>
              </a:solidFill>
              <a:effectLst/>
              <a:uFillTx/>
              <a:latin typeface="Arial"/>
            </a:endParaRPr>
          </a:p>
        </p:txBody>
      </p:sp>
      <p:sp>
        <p:nvSpPr>
          <p:cNvPr id="27" name=""/>
          <p:cNvSpPr/>
          <p:nvPr/>
        </p:nvSpPr>
        <p:spPr>
          <a:xfrm>
            <a:off x="609480" y="5143680"/>
            <a:ext cx="10762560" cy="85644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2250" b="1" u="none" strike="noStrike">
                <a:solidFill>
                  <a:srgbClr val="1D4ED8"/>
                </a:solidFill>
                <a:effectLst/>
                <a:uFillTx/>
                <a:latin typeface="DejaVu Sans"/>
                <a:ea typeface="DejaVu Sans"/>
              </a:rPr>
              <a:t>Rerouting needs a usable backup. The system cannot repair a disconnected physical link.</a:t>
            </a:r>
            <a:endParaRPr lang="en-US" sz="2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
          <p:cNvSpPr/>
          <p:nvPr/>
        </p:nvSpPr>
        <p:spPr>
          <a:xfrm>
            <a:off x="609480" y="428760"/>
            <a:ext cx="1097244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80" b="1" u="none" strike="noStrike">
                <a:solidFill>
                  <a:srgbClr val="132238"/>
                </a:solidFill>
                <a:effectLst/>
                <a:uFillTx/>
                <a:latin typeface="DejaVu Sans"/>
                <a:ea typeface="DejaVu Sans"/>
              </a:rPr>
              <a:t>Reading the network diagram</a:t>
            </a:r>
            <a:endParaRPr lang="en-US" sz="3380" b="0" u="none" strike="noStrike">
              <a:solidFill>
                <a:srgbClr val="000000"/>
              </a:solidFill>
              <a:effectLst/>
              <a:uFillTx/>
              <a:latin typeface="Arial"/>
            </a:endParaRPr>
          </a:p>
        </p:txBody>
      </p:sp>
      <p:pic>
        <p:nvPicPr>
          <p:cNvPr id="29" name=""/>
          <p:cNvPicPr/>
          <p:nvPr/>
        </p:nvPicPr>
        <p:blipFill>
          <a:blip r:embed="rId1"/>
          <a:stretch/>
        </p:blipFill>
        <p:spPr>
          <a:xfrm>
            <a:off x="1001880" y="1333440"/>
            <a:ext cx="5501880" cy="5238360"/>
          </a:xfrm>
          <a:prstGeom prst="rect">
            <a:avLst/>
          </a:prstGeom>
          <a:noFill/>
          <a:ln w="0">
            <a:noFill/>
          </a:ln>
        </p:spPr>
      </p:pic>
      <p:sp>
        <p:nvSpPr>
          <p:cNvPr id="30" name=""/>
          <p:cNvSpPr/>
          <p:nvPr/>
        </p:nvSpPr>
        <p:spPr>
          <a:xfrm>
            <a:off x="7334280" y="1571760"/>
            <a:ext cx="419076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70" b="1" u="none" strike="noStrike">
                <a:solidFill>
                  <a:srgbClr val="132238"/>
                </a:solidFill>
                <a:effectLst/>
                <a:uFillTx/>
                <a:latin typeface="DejaVu Sans"/>
                <a:ea typeface="DejaVu Sans"/>
              </a:rPr>
              <a:t>Blue means selected</a:t>
            </a:r>
            <a:endParaRPr lang="en-US" sz="2170" b="0" u="none" strike="noStrike">
              <a:solidFill>
                <a:srgbClr val="000000"/>
              </a:solidFill>
              <a:effectLst/>
              <a:uFillTx/>
              <a:latin typeface="Arial"/>
            </a:endParaRPr>
          </a:p>
        </p:txBody>
      </p:sp>
      <p:sp>
        <p:nvSpPr>
          <p:cNvPr id="31" name=""/>
          <p:cNvSpPr/>
          <p:nvPr/>
        </p:nvSpPr>
        <p:spPr>
          <a:xfrm>
            <a:off x="7334280" y="2095560"/>
            <a:ext cx="4190760" cy="13806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950" b="0" u="none" strike="noStrike">
                <a:solidFill>
                  <a:srgbClr val="132238"/>
                </a:solidFill>
                <a:effectLst/>
                <a:uFillTx/>
                <a:latin typeface="DejaVu Sans"/>
                <a:ea typeface="DejaVu Sans"/>
              </a:rPr>
              <a:t>The application uses the blue branch. Its card shows measured round trip time, probe loss and estimated traffic.</a:t>
            </a:r>
            <a:endParaRPr lang="en-US" sz="1950" b="0" u="none" strike="noStrike">
              <a:solidFill>
                <a:srgbClr val="000000"/>
              </a:solidFill>
              <a:effectLst/>
              <a:uFillTx/>
              <a:latin typeface="Arial"/>
            </a:endParaRPr>
          </a:p>
        </p:txBody>
      </p:sp>
      <p:sp>
        <p:nvSpPr>
          <p:cNvPr id="32" name=""/>
          <p:cNvSpPr/>
          <p:nvPr/>
        </p:nvSpPr>
        <p:spPr>
          <a:xfrm>
            <a:off x="7334280" y="3762360"/>
            <a:ext cx="419076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70" b="1" u="none" strike="noStrike">
                <a:solidFill>
                  <a:srgbClr val="132238"/>
                </a:solidFill>
                <a:effectLst/>
                <a:uFillTx/>
                <a:latin typeface="DejaVu Sans"/>
                <a:ea typeface="DejaVu Sans"/>
              </a:rPr>
              <a:t>Grey means standby</a:t>
            </a:r>
            <a:endParaRPr lang="en-US" sz="2170" b="0" u="none" strike="noStrike">
              <a:solidFill>
                <a:srgbClr val="000000"/>
              </a:solidFill>
              <a:effectLst/>
              <a:uFillTx/>
              <a:latin typeface="Arial"/>
            </a:endParaRPr>
          </a:p>
        </p:txBody>
      </p:sp>
      <p:sp>
        <p:nvSpPr>
          <p:cNvPr id="33" name=""/>
          <p:cNvSpPr/>
          <p:nvPr/>
        </p:nvSpPr>
        <p:spPr>
          <a:xfrm>
            <a:off x="7334280" y="4286160"/>
            <a:ext cx="4190760" cy="1618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950" b="0" u="none" strike="noStrike">
                <a:solidFill>
                  <a:srgbClr val="132238"/>
                </a:solidFill>
                <a:effectLst/>
                <a:uFillTx/>
                <a:latin typeface="DejaVu Sans"/>
                <a:ea typeface="DejaVu Sans"/>
              </a:rPr>
              <a:t>The controller still sends small test probes through the backup. That is why an unused application route has an RTT reading.</a:t>
            </a:r>
            <a:endParaRPr lang="en-US" sz="1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
          <p:cNvSpPr/>
          <p:nvPr/>
        </p:nvSpPr>
        <p:spPr>
          <a:xfrm>
            <a:off x="609480" y="428760"/>
            <a:ext cx="1097244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80" b="1" u="none" strike="noStrike">
                <a:solidFill>
                  <a:srgbClr val="132238"/>
                </a:solidFill>
                <a:effectLst/>
                <a:uFillTx/>
                <a:latin typeface="DejaVu Sans"/>
                <a:ea typeface="DejaVu Sans"/>
              </a:rPr>
              <a:t>The conditions used for these results</a:t>
            </a:r>
            <a:endParaRPr lang="en-US" sz="3380" b="0" u="none" strike="noStrike">
              <a:solidFill>
                <a:srgbClr val="000000"/>
              </a:solidFill>
              <a:effectLst/>
              <a:uFillTx/>
              <a:latin typeface="Arial"/>
            </a:endParaRPr>
          </a:p>
        </p:txBody>
      </p:sp>
      <p:graphicFrame>
        <p:nvGraphicFramePr>
          <p:cNvPr id="35" name=""/>
          <p:cNvGraphicFramePr/>
          <p:nvPr/>
        </p:nvGraphicFramePr>
        <p:xfrm>
          <a:off x="609480" y="1571760"/>
          <a:ext cx="10953360" cy="3285720"/>
        </p:xfrm>
        <a:graphic>
          <a:graphicData uri="http://schemas.openxmlformats.org/drawingml/2006/table">
            <a:tbl>
              <a:tblPr/>
              <a:tblGrid>
                <a:gridCol w="3238200"/>
                <a:gridCol w="7715160"/>
              </a:tblGrid>
              <a:tr h="547560">
                <a:tc>
                  <a:txBody>
                    <a:bodyPr anchor="t">
                      <a:noAutofit/>
                    </a:bodyPr>
                    <a:p>
                      <a:pPr>
                        <a:lnSpc>
                          <a:spcPct val="100000"/>
                        </a:lnSpc>
                      </a:pPr>
                      <a:r>
                        <a:rPr lang="en-US" sz="1870" b="1" u="none" strike="noStrike">
                          <a:solidFill>
                            <a:srgbClr val="132238"/>
                          </a:solidFill>
                          <a:effectLst/>
                          <a:uFillTx/>
                          <a:latin typeface="DejaVu Sans"/>
                          <a:ea typeface="DejaVu Sans"/>
                        </a:rPr>
                        <a:t>Setting</a:t>
                      </a:r>
                      <a:endParaRPr lang="en-US" sz="187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9360">
                      <a:solidFill>
                        <a:srgbClr val="D5DFE8"/>
                      </a:solidFill>
                      <a:prstDash val="solid"/>
                    </a:lnT>
                    <a:lnB w="9360">
                      <a:solidFill>
                        <a:srgbClr val="D5DFE8"/>
                      </a:solidFill>
                      <a:prstDash val="solid"/>
                    </a:lnB>
                    <a:solidFill>
                      <a:srgbClr val="EAF0F5"/>
                    </a:solidFill>
                  </a:tcPr>
                </a:tc>
                <a:tc>
                  <a:txBody>
                    <a:bodyPr anchor="t">
                      <a:noAutofit/>
                    </a:bodyPr>
                    <a:p>
                      <a:pPr>
                        <a:lnSpc>
                          <a:spcPct val="100000"/>
                        </a:lnSpc>
                      </a:pPr>
                      <a:r>
                        <a:rPr lang="en-US" sz="1870" b="1" u="none" strike="noStrike">
                          <a:solidFill>
                            <a:srgbClr val="132238"/>
                          </a:solidFill>
                          <a:effectLst/>
                          <a:uFillTx/>
                          <a:latin typeface="DejaVu Sans"/>
                          <a:ea typeface="DejaVu Sans"/>
                        </a:rPr>
                        <a:t>Value</a:t>
                      </a:r>
                      <a:endParaRPr lang="en-US" sz="187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9360">
                      <a:solidFill>
                        <a:srgbClr val="D5DFE8"/>
                      </a:solidFill>
                      <a:prstDash val="solid"/>
                    </a:lnT>
                    <a:lnB w="9360">
                      <a:solidFill>
                        <a:srgbClr val="D5DFE8"/>
                      </a:solidFill>
                      <a:prstDash val="solid"/>
                    </a:lnB>
                    <a:solidFill>
                      <a:srgbClr val="EAF0F5"/>
                    </a:solidFill>
                  </a:tcPr>
                </a:tc>
              </a:tr>
              <a:tr h="547560">
                <a:tc>
                  <a:txBody>
                    <a:bodyPr anchor="t">
                      <a:noAutofit/>
                    </a:bodyPr>
                    <a:p>
                      <a:pPr>
                        <a:lnSpc>
                          <a:spcPct val="100000"/>
                        </a:lnSpc>
                      </a:pPr>
                      <a:r>
                        <a:rPr lang="en-US" sz="1870" b="0" u="none" strike="noStrike">
                          <a:solidFill>
                            <a:srgbClr val="132238"/>
                          </a:solidFill>
                          <a:effectLst/>
                          <a:uFillTx/>
                          <a:latin typeface="DejaVu Sans"/>
                          <a:ea typeface="DejaVu Sans"/>
                        </a:rPr>
                        <a:t>Network</a:t>
                      </a:r>
                      <a:endParaRPr lang="en-US" sz="187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70" b="0" u="none" strike="noStrike">
                          <a:solidFill>
                            <a:srgbClr val="132238"/>
                          </a:solidFill>
                          <a:effectLst/>
                          <a:uFillTx/>
                          <a:latin typeface="DejaVu Sans"/>
                          <a:ea typeface="DejaVu Sans"/>
                        </a:rPr>
                        <a:t>Six switches with primary and backup branches</a:t>
                      </a:r>
                      <a:endParaRPr lang="en-US" sz="187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547560">
                <a:tc>
                  <a:txBody>
                    <a:bodyPr anchor="t">
                      <a:noAutofit/>
                    </a:bodyPr>
                    <a:p>
                      <a:pPr>
                        <a:lnSpc>
                          <a:spcPct val="100000"/>
                        </a:lnSpc>
                      </a:pPr>
                      <a:r>
                        <a:rPr lang="en-US" sz="1870" b="0" u="none" strike="noStrike">
                          <a:solidFill>
                            <a:srgbClr val="132238"/>
                          </a:solidFill>
                          <a:effectLst/>
                          <a:uFillTx/>
                          <a:latin typeface="DejaVu Sans"/>
                          <a:ea typeface="DejaVu Sans"/>
                        </a:rPr>
                        <a:t>Application traffic</a:t>
                      </a:r>
                      <a:endParaRPr lang="en-US" sz="187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70" b="0" u="none" strike="noStrike">
                          <a:solidFill>
                            <a:srgbClr val="132238"/>
                          </a:solidFill>
                          <a:effectLst/>
                          <a:uFillTx/>
                          <a:latin typeface="DejaVu Sans"/>
                          <a:ea typeface="DejaVu Sans"/>
                        </a:rPr>
                        <a:t>4 Mbps offered to a 10 Mbps branch</a:t>
                      </a:r>
                      <a:endParaRPr lang="en-US" sz="187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547560">
                <a:tc>
                  <a:txBody>
                    <a:bodyPr anchor="t">
                      <a:noAutofit/>
                    </a:bodyPr>
                    <a:p>
                      <a:pPr>
                        <a:lnSpc>
                          <a:spcPct val="100000"/>
                        </a:lnSpc>
                      </a:pPr>
                      <a:r>
                        <a:rPr lang="en-US" sz="1870" b="0" u="none" strike="noStrike">
                          <a:solidFill>
                            <a:srgbClr val="132238"/>
                          </a:solidFill>
                          <a:effectLst/>
                          <a:uFillTx/>
                          <a:latin typeface="DejaVu Sans"/>
                          <a:ea typeface="DejaVu Sans"/>
                        </a:rPr>
                        <a:t>Traffic duration</a:t>
                      </a:r>
                      <a:endParaRPr lang="en-US" sz="187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70" b="0" u="none" strike="noStrike">
                          <a:solidFill>
                            <a:srgbClr val="132238"/>
                          </a:solidFill>
                          <a:effectLst/>
                          <a:uFillTx/>
                          <a:latin typeface="DejaVu Sans"/>
                          <a:ea typeface="DejaVu Sans"/>
                        </a:rPr>
                        <a:t>36 seconds, plus setup and cleanup</a:t>
                      </a:r>
                      <a:endParaRPr lang="en-US" sz="187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547560">
                <a:tc>
                  <a:txBody>
                    <a:bodyPr anchor="t">
                      <a:noAutofit/>
                    </a:bodyPr>
                    <a:p>
                      <a:pPr>
                        <a:lnSpc>
                          <a:spcPct val="100000"/>
                        </a:lnSpc>
                      </a:pPr>
                      <a:r>
                        <a:rPr lang="en-US" sz="1870" b="0" u="none" strike="noStrike">
                          <a:solidFill>
                            <a:srgbClr val="132238"/>
                          </a:solidFill>
                          <a:effectLst/>
                          <a:uFillTx/>
                          <a:latin typeface="DejaVu Sans"/>
                          <a:ea typeface="DejaVu Sans"/>
                        </a:rPr>
                        <a:t>Fault schedule</a:t>
                      </a:r>
                      <a:endParaRPr lang="en-US" sz="187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70" b="0" u="none" strike="noStrike">
                          <a:solidFill>
                            <a:srgbClr val="132238"/>
                          </a:solidFill>
                          <a:effectLst/>
                          <a:uFillTx/>
                          <a:latin typeface="DejaVu Sans"/>
                          <a:ea typeface="DejaVu Sans"/>
                        </a:rPr>
                        <a:t>Requested around 10 to 26 seconds</a:t>
                      </a:r>
                      <a:endParaRPr lang="en-US" sz="187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547560">
                <a:tc>
                  <a:txBody>
                    <a:bodyPr anchor="t">
                      <a:noAutofit/>
                    </a:bodyPr>
                    <a:p>
                      <a:pPr>
                        <a:lnSpc>
                          <a:spcPct val="100000"/>
                        </a:lnSpc>
                      </a:pPr>
                      <a:r>
                        <a:rPr lang="en-US" sz="1870" b="0" u="none" strike="noStrike">
                          <a:solidFill>
                            <a:srgbClr val="132238"/>
                          </a:solidFill>
                          <a:effectLst/>
                          <a:uFillTx/>
                          <a:latin typeface="DejaVu Sans"/>
                          <a:ea typeface="DejaVu Sans"/>
                        </a:rPr>
                        <a:t>Evidence set</a:t>
                      </a:r>
                      <a:endParaRPr lang="en-US" sz="187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70" b="0" u="none" strike="noStrike">
                          <a:solidFill>
                            <a:srgbClr val="132238"/>
                          </a:solidFill>
                          <a:effectLst/>
                          <a:uFillTx/>
                          <a:latin typeface="DejaVu Sans"/>
                          <a:ea typeface="DejaVu Sans"/>
                        </a:rPr>
                        <a:t>Six default scenarios plus two detector comparisons</a:t>
                      </a:r>
                      <a:endParaRPr lang="en-US" sz="187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bl>
          </a:graphicData>
        </a:graphic>
      </p:graphicFrame>
      <p:sp>
        <p:nvSpPr>
          <p:cNvPr id="36" name=""/>
          <p:cNvSpPr/>
          <p:nvPr/>
        </p:nvSpPr>
        <p:spPr>
          <a:xfrm>
            <a:off x="609480" y="5286240"/>
            <a:ext cx="10953360" cy="10472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D4ED8"/>
                </a:solidFill>
                <a:effectLst/>
                <a:uFillTx/>
                <a:latin typeface="DejaVu Sans"/>
                <a:ea typeface="DejaVu Sans"/>
              </a:rPr>
              <a:t>Eight runs, one per condition, at 10 Mbps capacity. New runs can set capacity independently; these saved results are unchanged.</a:t>
            </a:r>
            <a:endParaRPr lang="en-US" sz="20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
          <p:cNvSpPr/>
          <p:nvPr/>
        </p:nvSpPr>
        <p:spPr>
          <a:xfrm>
            <a:off x="609480" y="428760"/>
            <a:ext cx="1097244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80" b="1" u="none" strike="noStrike">
                <a:solidFill>
                  <a:srgbClr val="132238"/>
                </a:solidFill>
                <a:effectLst/>
                <a:uFillTx/>
                <a:latin typeface="DejaVu Sans"/>
                <a:ea typeface="DejaVu Sans"/>
              </a:rPr>
              <a:t>The three detection methods</a:t>
            </a:r>
            <a:endParaRPr lang="en-US" sz="3380" b="0" u="none" strike="noStrike">
              <a:solidFill>
                <a:srgbClr val="000000"/>
              </a:solidFill>
              <a:effectLst/>
              <a:uFillTx/>
              <a:latin typeface="Arial"/>
            </a:endParaRPr>
          </a:p>
        </p:txBody>
      </p:sp>
      <p:graphicFrame>
        <p:nvGraphicFramePr>
          <p:cNvPr id="38" name=""/>
          <p:cNvGraphicFramePr/>
          <p:nvPr/>
        </p:nvGraphicFramePr>
        <p:xfrm>
          <a:off x="609480" y="1571760"/>
          <a:ext cx="10953360" cy="2857320"/>
        </p:xfrm>
        <a:graphic>
          <a:graphicData uri="http://schemas.openxmlformats.org/drawingml/2006/table">
            <a:tbl>
              <a:tblPr/>
              <a:tblGrid>
                <a:gridCol w="3238200"/>
                <a:gridCol w="7715160"/>
              </a:tblGrid>
              <a:tr h="714240">
                <a:tc>
                  <a:txBody>
                    <a:bodyPr anchor="t">
                      <a:noAutofit/>
                    </a:bodyPr>
                    <a:p>
                      <a:pPr>
                        <a:lnSpc>
                          <a:spcPct val="100000"/>
                        </a:lnSpc>
                      </a:pPr>
                      <a:r>
                        <a:rPr lang="en-US" sz="1950" b="1" u="none" strike="noStrike">
                          <a:solidFill>
                            <a:srgbClr val="132238"/>
                          </a:solidFill>
                          <a:effectLst/>
                          <a:uFillTx/>
                          <a:latin typeface="DejaVu Sans"/>
                          <a:ea typeface="DejaVu Sans"/>
                        </a:rPr>
                        <a:t>Method</a:t>
                      </a:r>
                      <a:endParaRPr lang="en-US" sz="195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9360">
                      <a:solidFill>
                        <a:srgbClr val="D5DFE8"/>
                      </a:solidFill>
                      <a:prstDash val="solid"/>
                    </a:lnT>
                    <a:lnB w="9360">
                      <a:solidFill>
                        <a:srgbClr val="D5DFE8"/>
                      </a:solidFill>
                      <a:prstDash val="solid"/>
                    </a:lnB>
                    <a:solidFill>
                      <a:srgbClr val="EAF0F5"/>
                    </a:solidFill>
                  </a:tcPr>
                </a:tc>
                <a:tc>
                  <a:txBody>
                    <a:bodyPr anchor="t">
                      <a:noAutofit/>
                    </a:bodyPr>
                    <a:p>
                      <a:pPr>
                        <a:lnSpc>
                          <a:spcPct val="100000"/>
                        </a:lnSpc>
                      </a:pPr>
                      <a:r>
                        <a:rPr lang="en-US" sz="1950" b="1" u="none" strike="noStrike">
                          <a:solidFill>
                            <a:srgbClr val="132238"/>
                          </a:solidFill>
                          <a:effectLst/>
                          <a:uFillTx/>
                          <a:latin typeface="DejaVu Sans"/>
                          <a:ea typeface="DejaVu Sans"/>
                        </a:rPr>
                        <a:t>How it decides</a:t>
                      </a:r>
                      <a:endParaRPr lang="en-US" sz="19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9360">
                      <a:solidFill>
                        <a:srgbClr val="D5DFE8"/>
                      </a:solidFill>
                      <a:prstDash val="solid"/>
                    </a:lnT>
                    <a:lnB w="9360">
                      <a:solidFill>
                        <a:srgbClr val="D5DFE8"/>
                      </a:solidFill>
                      <a:prstDash val="solid"/>
                    </a:lnB>
                    <a:solidFill>
                      <a:srgbClr val="EAF0F5"/>
                    </a:solidFill>
                  </a:tcPr>
                </a:tc>
              </a:tr>
              <a:tr h="714240">
                <a:tc>
                  <a:txBody>
                    <a:bodyPr anchor="t">
                      <a:noAutofit/>
                    </a:bodyPr>
                    <a:p>
                      <a:pPr>
                        <a:lnSpc>
                          <a:spcPct val="100000"/>
                        </a:lnSpc>
                      </a:pPr>
                      <a:r>
                        <a:rPr lang="en-US" sz="1950" b="0" u="none" strike="noStrike">
                          <a:solidFill>
                            <a:srgbClr val="132238"/>
                          </a:solidFill>
                          <a:effectLst/>
                          <a:uFillTx/>
                          <a:latin typeface="DejaVu Sans"/>
                          <a:ea typeface="DejaVu Sans"/>
                        </a:rPr>
                        <a:t>RF only</a:t>
                      </a:r>
                      <a:endParaRPr lang="en-US" sz="195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950" b="0" u="none" strike="noStrike">
                          <a:solidFill>
                            <a:srgbClr val="132238"/>
                          </a:solidFill>
                          <a:effectLst/>
                          <a:uFillTx/>
                          <a:latin typeface="DejaVu Sans"/>
                          <a:ea typeface="DejaVu Sans"/>
                        </a:rPr>
                        <a:t>A trained random forest judges the measurements.</a:t>
                      </a:r>
                      <a:endParaRPr lang="en-US" sz="19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714240">
                <a:tc>
                  <a:txBody>
                    <a:bodyPr anchor="t">
                      <a:noAutofit/>
                    </a:bodyPr>
                    <a:p>
                      <a:pPr>
                        <a:lnSpc>
                          <a:spcPct val="100000"/>
                        </a:lnSpc>
                      </a:pPr>
                      <a:r>
                        <a:rPr lang="en-US" sz="1950" b="0" u="none" strike="noStrike">
                          <a:solidFill>
                            <a:srgbClr val="132238"/>
                          </a:solidFill>
                          <a:effectLst/>
                          <a:uFillTx/>
                          <a:latin typeface="DejaVu Sans"/>
                          <a:ea typeface="DejaVu Sans"/>
                        </a:rPr>
                        <a:t>RF + loss guard</a:t>
                      </a:r>
                      <a:endParaRPr lang="en-US" sz="195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950" b="0" u="none" strike="noStrike">
                          <a:solidFill>
                            <a:srgbClr val="132238"/>
                          </a:solidFill>
                          <a:effectLst/>
                          <a:uFillTx/>
                          <a:latin typeface="DejaVu Sans"/>
                          <a:ea typeface="DejaVu Sans"/>
                        </a:rPr>
                        <a:t>The same forest plus a fixed rule for loss of at least 15%.</a:t>
                      </a:r>
                      <a:endParaRPr lang="en-US" sz="19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714240">
                <a:tc>
                  <a:txBody>
                    <a:bodyPr anchor="t">
                      <a:noAutofit/>
                    </a:bodyPr>
                    <a:p>
                      <a:pPr>
                        <a:lnSpc>
                          <a:spcPct val="100000"/>
                        </a:lnSpc>
                      </a:pPr>
                      <a:r>
                        <a:rPr lang="en-US" sz="1950" b="0" u="none" strike="noStrike">
                          <a:solidFill>
                            <a:srgbClr val="132238"/>
                          </a:solidFill>
                          <a:effectLst/>
                          <a:uFillTx/>
                          <a:latin typeface="DejaVu Sans"/>
                          <a:ea typeface="DejaVu Sans"/>
                        </a:rPr>
                        <a:t>Fixed rules</a:t>
                      </a:r>
                      <a:endParaRPr lang="en-US" sz="195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950" b="0" u="none" strike="noStrike">
                          <a:solidFill>
                            <a:srgbClr val="132238"/>
                          </a:solidFill>
                          <a:effectLst/>
                          <a:uFillTx/>
                          <a:latin typeface="DejaVu Sans"/>
                          <a:ea typeface="DejaVu Sans"/>
                        </a:rPr>
                        <a:t>Limits on loss, RTT, missing replies and utilization.</a:t>
                      </a:r>
                      <a:endParaRPr lang="en-US" sz="19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bl>
          </a:graphicData>
        </a:graphic>
      </p:graphicFrame>
      <p:sp>
        <p:nvSpPr>
          <p:cNvPr id="39" name=""/>
          <p:cNvSpPr/>
          <p:nvPr/>
        </p:nvSpPr>
        <p:spPr>
          <a:xfrm>
            <a:off x="609480" y="4905360"/>
            <a:ext cx="10953360" cy="9997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0" u="none" strike="noStrike">
                <a:solidFill>
                  <a:srgbClr val="132238"/>
                </a:solidFill>
                <a:effectLst/>
                <a:uFillTx/>
                <a:latin typeface="DejaVu Sans"/>
                <a:ea typeface="DejaVu Sans"/>
              </a:rPr>
              <a:t>All methods share the same forwarding and recovery policy. Hard link failures use a separate link-state check.</a:t>
            </a:r>
            <a:endParaRPr lang="en-US" sz="2100" b="0" u="none" strike="noStrike">
              <a:solidFill>
                <a:srgbClr val="000000"/>
              </a:solidFill>
              <a:effectLst/>
              <a:uFillTx/>
              <a:latin typeface="Arial"/>
            </a:endParaRPr>
          </a:p>
        </p:txBody>
      </p:sp>
      <p:sp>
        <p:nvSpPr>
          <p:cNvPr id="40" name=""/>
          <p:cNvSpPr/>
          <p:nvPr/>
        </p:nvSpPr>
        <p:spPr>
          <a:xfrm>
            <a:off x="609480" y="6095880"/>
            <a:ext cx="1095336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950" b="0" u="none" strike="noStrike">
                <a:solidFill>
                  <a:srgbClr val="1D4ED8"/>
                </a:solidFill>
                <a:effectLst/>
                <a:uFillTx/>
                <a:latin typeface="DejaVu Sans"/>
                <a:ea typeface="DejaVu Sans"/>
              </a:rPr>
              <a:t>RF + loss guard is the default shown in the scenario results.</a:t>
            </a:r>
            <a:endParaRPr lang="en-US" sz="1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
          <p:cNvSpPr/>
          <p:nvPr/>
        </p:nvSpPr>
        <p:spPr>
          <a:xfrm>
            <a:off x="609480" y="428760"/>
            <a:ext cx="1097244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80" b="1" u="none" strike="noStrike">
                <a:solidFill>
                  <a:srgbClr val="132238"/>
                </a:solidFill>
                <a:effectLst/>
                <a:uFillTx/>
                <a:latin typeface="DejaVu Sans"/>
                <a:ea typeface="DejaVu Sans"/>
              </a:rPr>
              <a:t>Route change and recovery are different</a:t>
            </a:r>
            <a:endParaRPr lang="en-US" sz="3380" b="0" u="none" strike="noStrike">
              <a:solidFill>
                <a:srgbClr val="000000"/>
              </a:solidFill>
              <a:effectLst/>
              <a:uFillTx/>
              <a:latin typeface="Arial"/>
            </a:endParaRPr>
          </a:p>
        </p:txBody>
      </p:sp>
      <p:sp>
        <p:nvSpPr>
          <p:cNvPr id="42" name=""/>
          <p:cNvSpPr/>
          <p:nvPr/>
        </p:nvSpPr>
        <p:spPr>
          <a:xfrm>
            <a:off x="609480" y="1666800"/>
            <a:ext cx="1095336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620" b="1" u="none" strike="noStrike">
                <a:solidFill>
                  <a:srgbClr val="132238"/>
                </a:solidFill>
                <a:effectLst/>
                <a:uFillTx/>
                <a:latin typeface="DejaVu Sans"/>
                <a:ea typeface="DejaVu Sans"/>
              </a:rPr>
              <a:t>2.10 seconds to change route</a:t>
            </a:r>
            <a:endParaRPr lang="en-US" sz="2620" b="0" u="none" strike="noStrike">
              <a:solidFill>
                <a:srgbClr val="000000"/>
              </a:solidFill>
              <a:effectLst/>
              <a:uFillTx/>
              <a:latin typeface="Arial"/>
            </a:endParaRPr>
          </a:p>
        </p:txBody>
      </p:sp>
      <p:sp>
        <p:nvSpPr>
          <p:cNvPr id="43" name=""/>
          <p:cNvSpPr/>
          <p:nvPr/>
        </p:nvSpPr>
        <p:spPr>
          <a:xfrm>
            <a:off x="609480" y="2428920"/>
            <a:ext cx="1095336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0" u="none" strike="noStrike">
                <a:solidFill>
                  <a:srgbClr val="132238"/>
                </a:solidFill>
                <a:effectLst/>
                <a:uFillTx/>
                <a:latin typeface="DejaVu Sans"/>
                <a:ea typeface="DejaVu Sans"/>
              </a:rPr>
              <a:t>After the link failed, the controller selected and installed the backup route. This records the forwarding action.</a:t>
            </a:r>
            <a:endParaRPr lang="en-US" sz="2100" b="0" u="none" strike="noStrike">
              <a:solidFill>
                <a:srgbClr val="000000"/>
              </a:solidFill>
              <a:effectLst/>
              <a:uFillTx/>
              <a:latin typeface="Arial"/>
            </a:endParaRPr>
          </a:p>
        </p:txBody>
      </p:sp>
      <p:sp>
        <p:nvSpPr>
          <p:cNvPr id="44" name=""/>
          <p:cNvSpPr/>
          <p:nvPr/>
        </p:nvSpPr>
        <p:spPr>
          <a:xfrm>
            <a:off x="609480" y="3714840"/>
            <a:ext cx="1095336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620" b="1" u="none" strike="noStrike">
                <a:solidFill>
                  <a:srgbClr val="132238"/>
                </a:solidFill>
                <a:effectLst/>
                <a:uFillTx/>
                <a:latin typeface="DejaVu Sans"/>
                <a:ea typeface="DejaVu Sans"/>
              </a:rPr>
              <a:t>8.02 seconds to confirm recovery</a:t>
            </a:r>
            <a:endParaRPr lang="en-US" sz="2620" b="0" u="none" strike="noStrike">
              <a:solidFill>
                <a:srgbClr val="000000"/>
              </a:solidFill>
              <a:effectLst/>
              <a:uFillTx/>
              <a:latin typeface="Arial"/>
            </a:endParaRPr>
          </a:p>
        </p:txBody>
      </p:sp>
      <p:sp>
        <p:nvSpPr>
          <p:cNvPr id="45" name=""/>
          <p:cNvSpPr/>
          <p:nvPr/>
        </p:nvSpPr>
        <p:spPr>
          <a:xfrm>
            <a:off x="609480" y="4476600"/>
            <a:ext cx="10953360" cy="11426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0" u="none" strike="noStrike">
                <a:solidFill>
                  <a:srgbClr val="132238"/>
                </a:solidFill>
                <a:effectLst/>
                <a:uFillTx/>
                <a:latin typeface="DejaVu Sans"/>
                <a:ea typeface="DejaVu Sans"/>
              </a:rPr>
              <a:t>The runner then observed two healthy application probe windows while the fault remained active. Probe timing and timeouts add to this delay.</a:t>
            </a:r>
            <a:endParaRPr lang="en-US" sz="2100" b="0" u="none" strike="noStrike">
              <a:solidFill>
                <a:srgbClr val="000000"/>
              </a:solidFill>
              <a:effectLst/>
              <a:uFillTx/>
              <a:latin typeface="Arial"/>
            </a:endParaRPr>
          </a:p>
        </p:txBody>
      </p:sp>
      <p:sp>
        <p:nvSpPr>
          <p:cNvPr id="46" name=""/>
          <p:cNvSpPr/>
          <p:nvPr/>
        </p:nvSpPr>
        <p:spPr>
          <a:xfrm>
            <a:off x="609480" y="6000840"/>
            <a:ext cx="10953360" cy="5713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D4ED8"/>
                </a:solidFill>
                <a:effectLst/>
                <a:uFillTx/>
                <a:latin typeface="DejaVu Sans"/>
                <a:ea typeface="DejaVu Sans"/>
              </a:rPr>
              <a:t>Example from the current link-failure run. Both times start at actual fault onset.</a:t>
            </a:r>
            <a:endParaRPr lang="en-US" sz="187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
          <p:cNvSpPr/>
          <p:nvPr/>
        </p:nvSpPr>
        <p:spPr>
          <a:xfrm>
            <a:off x="609480" y="428760"/>
            <a:ext cx="1097244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80" b="1" u="none" strike="noStrike">
                <a:solidFill>
                  <a:srgbClr val="132238"/>
                </a:solidFill>
                <a:effectLst/>
                <a:uFillTx/>
                <a:latin typeface="DejaVu Sans"/>
                <a:ea typeface="DejaVu Sans"/>
              </a:rPr>
              <a:t>Reading loss and latency</a:t>
            </a:r>
            <a:endParaRPr lang="en-US" sz="3380" b="0" u="none" strike="noStrike">
              <a:solidFill>
                <a:srgbClr val="000000"/>
              </a:solidFill>
              <a:effectLst/>
              <a:uFillTx/>
              <a:latin typeface="Arial"/>
            </a:endParaRPr>
          </a:p>
        </p:txBody>
      </p:sp>
      <p:sp>
        <p:nvSpPr>
          <p:cNvPr id="48" name=""/>
          <p:cNvSpPr/>
          <p:nvPr/>
        </p:nvSpPr>
        <p:spPr>
          <a:xfrm>
            <a:off x="609480" y="1380960"/>
            <a:ext cx="523836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70" b="1" u="none" strike="noStrike">
                <a:solidFill>
                  <a:srgbClr val="132238"/>
                </a:solidFill>
                <a:effectLst/>
                <a:uFillTx/>
                <a:latin typeface="DejaVu Sans"/>
                <a:ea typeface="DejaVu Sans"/>
              </a:rPr>
              <a:t>Loss in percent</a:t>
            </a:r>
            <a:endParaRPr lang="en-US" sz="2170" b="0" u="none" strike="noStrike">
              <a:solidFill>
                <a:srgbClr val="000000"/>
              </a:solidFill>
              <a:effectLst/>
              <a:uFillTx/>
              <a:latin typeface="Arial"/>
            </a:endParaRPr>
          </a:p>
        </p:txBody>
      </p:sp>
      <p:sp>
        <p:nvSpPr>
          <p:cNvPr id="49" name=""/>
          <p:cNvSpPr/>
          <p:nvPr/>
        </p:nvSpPr>
        <p:spPr>
          <a:xfrm>
            <a:off x="6381720" y="1380960"/>
            <a:ext cx="52002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70" b="1" u="none" strike="noStrike">
                <a:solidFill>
                  <a:srgbClr val="132238"/>
                </a:solidFill>
                <a:effectLst/>
                <a:uFillTx/>
                <a:latin typeface="DejaVu Sans"/>
                <a:ea typeface="DejaVu Sans"/>
              </a:rPr>
              <a:t>Round trip time in milliseconds</a:t>
            </a:r>
            <a:endParaRPr lang="en-US" sz="2170" b="0" u="none" strike="noStrike">
              <a:solidFill>
                <a:srgbClr val="000000"/>
              </a:solidFill>
              <a:effectLst/>
              <a:uFillTx/>
              <a:latin typeface="Arial"/>
            </a:endParaRPr>
          </a:p>
        </p:txBody>
      </p:sp>
      <p:pic>
        <p:nvPicPr>
          <p:cNvPr id="50" name=""/>
          <p:cNvPicPr/>
          <p:nvPr/>
        </p:nvPicPr>
        <p:blipFill>
          <a:blip r:embed="rId1"/>
          <a:stretch/>
        </p:blipFill>
        <p:spPr>
          <a:xfrm>
            <a:off x="609480" y="1967040"/>
            <a:ext cx="5238360" cy="2066400"/>
          </a:xfrm>
          <a:prstGeom prst="rect">
            <a:avLst/>
          </a:prstGeom>
          <a:noFill/>
          <a:ln w="0">
            <a:noFill/>
          </a:ln>
        </p:spPr>
      </p:pic>
      <p:pic>
        <p:nvPicPr>
          <p:cNvPr id="51" name=""/>
          <p:cNvPicPr/>
          <p:nvPr/>
        </p:nvPicPr>
        <p:blipFill>
          <a:blip r:embed="rId2"/>
          <a:stretch/>
        </p:blipFill>
        <p:spPr>
          <a:xfrm>
            <a:off x="6381720" y="1974600"/>
            <a:ext cx="5200200" cy="2051280"/>
          </a:xfrm>
          <a:prstGeom prst="rect">
            <a:avLst/>
          </a:prstGeom>
          <a:noFill/>
          <a:ln w="0">
            <a:noFill/>
          </a:ln>
        </p:spPr>
      </p:pic>
      <p:sp>
        <p:nvSpPr>
          <p:cNvPr id="52" name=""/>
          <p:cNvSpPr/>
          <p:nvPr/>
        </p:nvSpPr>
        <p:spPr>
          <a:xfrm>
            <a:off x="609480" y="4381560"/>
            <a:ext cx="5238360" cy="1476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950" b="0" u="none" strike="noStrike">
                <a:solidFill>
                  <a:srgbClr val="132238"/>
                </a:solidFill>
                <a:effectLst/>
                <a:uFillTx/>
                <a:latin typeface="DejaVu Sans"/>
                <a:ea typeface="DejaVu Sans"/>
              </a:rPr>
              <a:t>Loss asks whether test packets returned. The primary can still show loss after the application moves to the backup.</a:t>
            </a:r>
            <a:endParaRPr lang="en-US" sz="1950" b="0" u="none" strike="noStrike">
              <a:solidFill>
                <a:srgbClr val="000000"/>
              </a:solidFill>
              <a:effectLst/>
              <a:uFillTx/>
              <a:latin typeface="Arial"/>
            </a:endParaRPr>
          </a:p>
        </p:txBody>
      </p:sp>
      <p:sp>
        <p:nvSpPr>
          <p:cNvPr id="53" name=""/>
          <p:cNvSpPr/>
          <p:nvPr/>
        </p:nvSpPr>
        <p:spPr>
          <a:xfrm>
            <a:off x="6381720" y="4381560"/>
            <a:ext cx="5200200" cy="1476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950" b="0" u="none" strike="noStrike">
                <a:solidFill>
                  <a:srgbClr val="132238"/>
                </a:solidFill>
                <a:effectLst/>
                <a:uFillTx/>
                <a:latin typeface="DejaVu Sans"/>
                <a:ea typeface="DejaVu Sans"/>
              </a:rPr>
              <a:t>Latency asks how long a reply took. It measures the complete round trip. A missing reply does not mean zero delay.</a:t>
            </a:r>
            <a:endParaRPr lang="en-US" sz="1950" b="0" u="none" strike="noStrike">
              <a:solidFill>
                <a:srgbClr val="000000"/>
              </a:solidFill>
              <a:effectLst/>
              <a:uFillTx/>
              <a:latin typeface="Arial"/>
            </a:endParaRPr>
          </a:p>
        </p:txBody>
      </p:sp>
      <p:sp>
        <p:nvSpPr>
          <p:cNvPr id="54" name=""/>
          <p:cNvSpPr/>
          <p:nvPr/>
        </p:nvSpPr>
        <p:spPr>
          <a:xfrm>
            <a:off x="609480" y="6143760"/>
            <a:ext cx="10953360" cy="3805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729" b="0" u="none" strike="noStrike">
                <a:solidFill>
                  <a:srgbClr val="1D4ED8"/>
                </a:solidFill>
                <a:effectLst/>
                <a:uFillTx/>
                <a:latin typeface="DejaVu Sans"/>
                <a:ea typeface="DejaVu Sans"/>
              </a:rPr>
              <a:t>Pink shading marks the fault window. Lines connect sampled observations.</a:t>
            </a:r>
            <a:endParaRPr lang="en-US" sz="172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
          <p:cNvSpPr/>
          <p:nvPr/>
        </p:nvSpPr>
        <p:spPr>
          <a:xfrm>
            <a:off x="609480" y="428760"/>
            <a:ext cx="1097244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80" b="1" u="none" strike="noStrike">
                <a:solidFill>
                  <a:srgbClr val="132238"/>
                </a:solidFill>
                <a:effectLst/>
                <a:uFillTx/>
                <a:latin typeface="DejaVu Sans"/>
                <a:ea typeface="DejaVu Sans"/>
              </a:rPr>
              <a:t>Utilization and application load</a:t>
            </a:r>
            <a:endParaRPr lang="en-US" sz="3380" b="0" u="none" strike="noStrike">
              <a:solidFill>
                <a:srgbClr val="000000"/>
              </a:solidFill>
              <a:effectLst/>
              <a:uFillTx/>
              <a:latin typeface="Arial"/>
            </a:endParaRPr>
          </a:p>
        </p:txBody>
      </p:sp>
      <p:pic>
        <p:nvPicPr>
          <p:cNvPr id="56" name=""/>
          <p:cNvPicPr/>
          <p:nvPr/>
        </p:nvPicPr>
        <p:blipFill>
          <a:blip r:embed="rId1"/>
          <a:stretch/>
        </p:blipFill>
        <p:spPr>
          <a:xfrm>
            <a:off x="609480" y="1695240"/>
            <a:ext cx="6857640" cy="2705400"/>
          </a:xfrm>
          <a:prstGeom prst="rect">
            <a:avLst/>
          </a:prstGeom>
          <a:noFill/>
          <a:ln w="0">
            <a:noFill/>
          </a:ln>
        </p:spPr>
      </p:pic>
      <p:sp>
        <p:nvSpPr>
          <p:cNvPr id="57" name=""/>
          <p:cNvSpPr/>
          <p:nvPr/>
        </p:nvSpPr>
        <p:spPr>
          <a:xfrm>
            <a:off x="7905600" y="1666800"/>
            <a:ext cx="367632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70" b="1" u="none" strike="noStrike">
                <a:solidFill>
                  <a:srgbClr val="132238"/>
                </a:solidFill>
                <a:effectLst/>
                <a:uFillTx/>
                <a:latin typeface="DejaVu Sans"/>
                <a:ea typeface="DejaVu Sans"/>
              </a:rPr>
              <a:t>Measured link use</a:t>
            </a:r>
            <a:endParaRPr lang="en-US" sz="2170" b="0" u="none" strike="noStrike">
              <a:solidFill>
                <a:srgbClr val="000000"/>
              </a:solidFill>
              <a:effectLst/>
              <a:uFillTx/>
              <a:latin typeface="Arial"/>
            </a:endParaRPr>
          </a:p>
        </p:txBody>
      </p:sp>
      <p:sp>
        <p:nvSpPr>
          <p:cNvPr id="58" name=""/>
          <p:cNvSpPr/>
          <p:nvPr/>
        </p:nvSpPr>
        <p:spPr>
          <a:xfrm>
            <a:off x="7905600" y="2286000"/>
            <a:ext cx="3676320" cy="1952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32238"/>
                </a:solidFill>
                <a:effectLst/>
                <a:uFillTx/>
                <a:latin typeface="DejaVu Sans"/>
                <a:ea typeface="DejaVu Sans"/>
              </a:rPr>
              <a:t>Counter rate ÷ capacity gives utilization.</a:t>
            </a:r>
            <a:endParaRPr lang="en-US" sz="2020" b="0" u="none" strike="noStrike">
              <a:solidFill>
                <a:srgbClr val="000000"/>
              </a:solidFill>
              <a:effectLst/>
              <a:uFillTx/>
              <a:latin typeface="Arial"/>
            </a:endParaRPr>
          </a:p>
          <a:p>
            <a:pPr>
              <a:lnSpc>
                <a:spcPct val="100000"/>
              </a:lnSpc>
            </a:pPr>
            <a:endParaRPr lang="en-US" sz="2020" b="0" u="none" strike="noStrike">
              <a:solidFill>
                <a:srgbClr val="000000"/>
              </a:solidFill>
              <a:effectLst/>
              <a:uFillTx/>
              <a:latin typeface="Arial"/>
            </a:endParaRPr>
          </a:p>
          <a:p>
            <a:pPr>
              <a:lnSpc>
                <a:spcPct val="100000"/>
              </a:lnSpc>
            </a:pPr>
            <a:r>
              <a:rPr lang="en-US" sz="2020" b="0" u="none" strike="noStrike">
                <a:solidFill>
                  <a:srgbClr val="132238"/>
                </a:solidFill>
                <a:effectLst/>
                <a:uFillTx/>
                <a:latin typeface="DejaVu Sans"/>
                <a:ea typeface="DejaVu Sans"/>
              </a:rPr>
              <a:t>4.11 Mbps ÷ 10 Mbps = 41.1%.</a:t>
            </a:r>
            <a:endParaRPr lang="en-US" sz="2020" b="0" u="none" strike="noStrike">
              <a:solidFill>
                <a:srgbClr val="000000"/>
              </a:solidFill>
              <a:effectLst/>
              <a:uFillTx/>
              <a:latin typeface="Arial"/>
            </a:endParaRPr>
          </a:p>
        </p:txBody>
      </p:sp>
      <p:sp>
        <p:nvSpPr>
          <p:cNvPr id="59" name=""/>
          <p:cNvSpPr/>
          <p:nvPr/>
        </p:nvSpPr>
        <p:spPr>
          <a:xfrm>
            <a:off x="609480" y="4809960"/>
            <a:ext cx="10953360" cy="809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950" b="0" u="none" strike="noStrike">
                <a:solidFill>
                  <a:srgbClr val="132238"/>
                </a:solidFill>
                <a:effectLst/>
                <a:uFillTx/>
                <a:latin typeface="DejaVu Sans"/>
                <a:ea typeface="DejaVu Sans"/>
              </a:rPr>
              <a:t>Capacity applies to both branches. Utilization uses the chosen capacity. At 20 Mbps, 4 Mbps is approximately 20% utilization before other traffic.</a:t>
            </a:r>
            <a:endParaRPr lang="en-US" sz="1950" b="0" u="none" strike="noStrike">
              <a:solidFill>
                <a:srgbClr val="000000"/>
              </a:solidFill>
              <a:effectLst/>
              <a:uFillTx/>
              <a:latin typeface="Arial"/>
            </a:endParaRPr>
          </a:p>
        </p:txBody>
      </p:sp>
      <p:sp>
        <p:nvSpPr>
          <p:cNvPr id="60" name=""/>
          <p:cNvSpPr/>
          <p:nvPr/>
        </p:nvSpPr>
        <p:spPr>
          <a:xfrm>
            <a:off x="609480" y="5810400"/>
            <a:ext cx="10953360" cy="809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950" b="0" u="none" strike="noStrike">
                <a:solidFill>
                  <a:srgbClr val="132238"/>
                </a:solidFill>
                <a:effectLst/>
                <a:uFillTx/>
                <a:latin typeface="DejaVu Sans"/>
                <a:ea typeface="DejaVu Sans"/>
              </a:rPr>
              <a:t>Set link capacity in the dashboard or use --capacity 20 --load 4. Default: 10 Mbps; maximum: 100 Mbps. Congestion background = 1.2 × capacity.</a:t>
            </a:r>
            <a:endParaRPr lang="en-US" sz="1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
          <p:cNvSpPr/>
          <p:nvPr/>
        </p:nvSpPr>
        <p:spPr>
          <a:xfrm>
            <a:off x="609480" y="428760"/>
            <a:ext cx="1097244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80" b="1" u="none" strike="noStrike">
                <a:solidFill>
                  <a:srgbClr val="132238"/>
                </a:solidFill>
                <a:effectLst/>
                <a:uFillTx/>
                <a:latin typeface="DejaVu Sans"/>
                <a:ea typeface="DejaVu Sans"/>
              </a:rPr>
              <a:t>What happened in each scenario</a:t>
            </a:r>
            <a:endParaRPr lang="en-US" sz="3380" b="0" u="none" strike="noStrike">
              <a:solidFill>
                <a:srgbClr val="000000"/>
              </a:solidFill>
              <a:effectLst/>
              <a:uFillTx/>
              <a:latin typeface="Arial"/>
            </a:endParaRPr>
          </a:p>
        </p:txBody>
      </p:sp>
      <p:sp>
        <p:nvSpPr>
          <p:cNvPr id="62" name=""/>
          <p:cNvSpPr/>
          <p:nvPr/>
        </p:nvSpPr>
        <p:spPr>
          <a:xfrm>
            <a:off x="609480" y="5286240"/>
            <a:ext cx="10953360" cy="7138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32238"/>
                </a:solidFill>
                <a:effectLst/>
                <a:uFillTx/>
                <a:latin typeface="DejaVu Sans"/>
                <a:ea typeface="DejaVu Sans"/>
              </a:rPr>
              <a:t>Default RF + loss guard, six switches, 4 Mbps offered traffic. Each row is one current 36-second run.</a:t>
            </a:r>
            <a:endParaRPr lang="en-US" sz="1870" b="0" u="none" strike="noStrike">
              <a:solidFill>
                <a:srgbClr val="000000"/>
              </a:solidFill>
              <a:effectLst/>
              <a:uFillTx/>
              <a:latin typeface="Arial"/>
            </a:endParaRPr>
          </a:p>
        </p:txBody>
      </p:sp>
      <p:sp>
        <p:nvSpPr>
          <p:cNvPr id="63" name=""/>
          <p:cNvSpPr/>
          <p:nvPr/>
        </p:nvSpPr>
        <p:spPr>
          <a:xfrm>
            <a:off x="609480" y="6095880"/>
            <a:ext cx="10953360" cy="6188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00" b="0" u="none" strike="noStrike">
                <a:solidFill>
                  <a:srgbClr val="1D4ED8"/>
                </a:solidFill>
                <a:effectLst/>
                <a:uFillTx/>
                <a:latin typeface="DejaVu Sans"/>
                <a:ea typeface="DejaVu Sans"/>
              </a:rPr>
              <a:t>“Restored” means two healthy application probe windows after rerouting while the fault remains active.</a:t>
            </a:r>
            <a:endParaRPr lang="en-US" sz="1800" b="0" u="none" strike="noStrike">
              <a:solidFill>
                <a:srgbClr val="000000"/>
              </a:solidFill>
              <a:effectLst/>
              <a:uFillTx/>
              <a:latin typeface="Arial"/>
            </a:endParaRPr>
          </a:p>
        </p:txBody>
      </p:sp>
      <p:graphicFrame>
        <p:nvGraphicFramePr>
          <p:cNvPr id="64" name=""/>
          <p:cNvGraphicFramePr/>
          <p:nvPr/>
        </p:nvGraphicFramePr>
        <p:xfrm>
          <a:off x="609480" y="1571760"/>
          <a:ext cx="10953360" cy="3476160"/>
        </p:xfrm>
        <a:graphic>
          <a:graphicData uri="http://schemas.openxmlformats.org/drawingml/2006/table">
            <a:tbl>
              <a:tblPr/>
              <a:tblGrid>
                <a:gridCol w="2523960"/>
                <a:gridCol w="2238120"/>
                <a:gridCol w="2000160"/>
                <a:gridCol w="4190760"/>
              </a:tblGrid>
              <a:tr h="496440">
                <a:tc>
                  <a:txBody>
                    <a:bodyPr anchor="t">
                      <a:noAutofit/>
                    </a:bodyPr>
                    <a:p>
                      <a:pPr>
                        <a:lnSpc>
                          <a:spcPct val="100000"/>
                        </a:lnSpc>
                      </a:pPr>
                      <a:r>
                        <a:rPr lang="en-US" sz="1650" b="1" u="none" strike="noStrike">
                          <a:solidFill>
                            <a:srgbClr val="132238"/>
                          </a:solidFill>
                          <a:effectLst/>
                          <a:uFillTx/>
                          <a:latin typeface="DejaVu Sans"/>
                          <a:ea typeface="DejaVu Sans"/>
                        </a:rPr>
                        <a:t>Scenario</a:t>
                      </a:r>
                      <a:endParaRPr lang="en-US" sz="165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9360">
                      <a:solidFill>
                        <a:srgbClr val="D5DFE8"/>
                      </a:solidFill>
                      <a:prstDash val="solid"/>
                    </a:lnT>
                    <a:lnB w="9360">
                      <a:solidFill>
                        <a:srgbClr val="D5DFE8"/>
                      </a:solidFill>
                      <a:prstDash val="solid"/>
                    </a:lnB>
                    <a:solidFill>
                      <a:srgbClr val="EAF0F5"/>
                    </a:solidFill>
                  </a:tcPr>
                </a:tc>
                <a:tc>
                  <a:txBody>
                    <a:bodyPr anchor="t">
                      <a:noAutofit/>
                    </a:bodyPr>
                    <a:p>
                      <a:pPr>
                        <a:lnSpc>
                          <a:spcPct val="100000"/>
                        </a:lnSpc>
                      </a:pPr>
                      <a:r>
                        <a:rPr lang="en-US" sz="1650" b="1" u="none" strike="noStrike">
                          <a:solidFill>
                            <a:srgbClr val="132238"/>
                          </a:solidFill>
                          <a:effectLst/>
                          <a:uFillTx/>
                          <a:latin typeface="DejaVu Sans"/>
                          <a:ea typeface="DejaVu Sans"/>
                        </a:rPr>
                        <a:t>Data received</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9360">
                      <a:solidFill>
                        <a:srgbClr val="D5DFE8"/>
                      </a:solidFill>
                      <a:prstDash val="solid"/>
                    </a:lnT>
                    <a:lnB w="9360">
                      <a:solidFill>
                        <a:srgbClr val="D5DFE8"/>
                      </a:solidFill>
                      <a:prstDash val="solid"/>
                    </a:lnB>
                    <a:solidFill>
                      <a:srgbClr val="EAF0F5"/>
                    </a:solidFill>
                  </a:tcPr>
                </a:tc>
                <a:tc>
                  <a:txBody>
                    <a:bodyPr anchor="t">
                      <a:noAutofit/>
                    </a:bodyPr>
                    <a:p>
                      <a:pPr>
                        <a:lnSpc>
                          <a:spcPct val="100000"/>
                        </a:lnSpc>
                      </a:pPr>
                      <a:r>
                        <a:rPr lang="en-US" sz="1650" b="1" u="none" strike="noStrike">
                          <a:solidFill>
                            <a:srgbClr val="132238"/>
                          </a:solidFill>
                          <a:effectLst/>
                          <a:uFillTx/>
                          <a:latin typeface="DejaVu Sans"/>
                          <a:ea typeface="DejaVu Sans"/>
                        </a:rPr>
                        <a:t>Packets lost</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9360">
                      <a:solidFill>
                        <a:srgbClr val="D5DFE8"/>
                      </a:solidFill>
                      <a:prstDash val="solid"/>
                    </a:lnT>
                    <a:lnB w="9360">
                      <a:solidFill>
                        <a:srgbClr val="D5DFE8"/>
                      </a:solidFill>
                      <a:prstDash val="solid"/>
                    </a:lnB>
                    <a:solidFill>
                      <a:srgbClr val="EAF0F5"/>
                    </a:solidFill>
                  </a:tcPr>
                </a:tc>
                <a:tc>
                  <a:txBody>
                    <a:bodyPr anchor="t">
                      <a:noAutofit/>
                    </a:bodyPr>
                    <a:p>
                      <a:pPr>
                        <a:lnSpc>
                          <a:spcPct val="100000"/>
                        </a:lnSpc>
                      </a:pPr>
                      <a:r>
                        <a:rPr lang="en-US" sz="1650" b="1" u="none" strike="noStrike">
                          <a:solidFill>
                            <a:srgbClr val="132238"/>
                          </a:solidFill>
                          <a:effectLst/>
                          <a:uFillTx/>
                          <a:latin typeface="DejaVu Sans"/>
                          <a:ea typeface="DejaVu Sans"/>
                        </a:rPr>
                        <a:t>What happened</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9360">
                      <a:solidFill>
                        <a:srgbClr val="D5DFE8"/>
                      </a:solidFill>
                      <a:prstDash val="solid"/>
                    </a:lnT>
                    <a:lnB w="9360">
                      <a:solidFill>
                        <a:srgbClr val="D5DFE8"/>
                      </a:solidFill>
                      <a:prstDash val="solid"/>
                    </a:lnB>
                    <a:solidFill>
                      <a:srgbClr val="EAF0F5"/>
                    </a:solidFill>
                  </a:tcPr>
                </a:tc>
              </a:tr>
              <a:tr h="496440">
                <a:tc>
                  <a:txBody>
                    <a:bodyPr anchor="t">
                      <a:noAutofit/>
                    </a:bodyPr>
                    <a:p>
                      <a:pPr>
                        <a:lnSpc>
                          <a:spcPct val="100000"/>
                        </a:lnSpc>
                      </a:pPr>
                      <a:r>
                        <a:rPr lang="en-US" sz="1650" b="0" u="none" strike="noStrike">
                          <a:solidFill>
                            <a:srgbClr val="132238"/>
                          </a:solidFill>
                          <a:effectLst/>
                          <a:uFillTx/>
                          <a:latin typeface="DejaVu Sans"/>
                          <a:ea typeface="DejaVu Sans"/>
                        </a:rPr>
                        <a:t>Normal</a:t>
                      </a:r>
                      <a:endParaRPr lang="en-US" sz="165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4.00 Mbps</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0.00%</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No fault to recover from</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496440">
                <a:tc>
                  <a:txBody>
                    <a:bodyPr anchor="t">
                      <a:noAutofit/>
                    </a:bodyPr>
                    <a:p>
                      <a:pPr>
                        <a:lnSpc>
                          <a:spcPct val="100000"/>
                        </a:lnSpc>
                      </a:pPr>
                      <a:r>
                        <a:rPr lang="en-US" sz="1650" b="0" u="none" strike="noStrike">
                          <a:solidFill>
                            <a:srgbClr val="132238"/>
                          </a:solidFill>
                          <a:effectLst/>
                          <a:uFillTx/>
                          <a:latin typeface="DejaVu Sans"/>
                          <a:ea typeface="DejaVu Sans"/>
                        </a:rPr>
                        <a:t>Link failure</a:t>
                      </a:r>
                      <a:endParaRPr lang="en-US" sz="165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3.76 Mbps</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5.86%</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Restored in 8.02 s</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496440">
                <a:tc>
                  <a:txBody>
                    <a:bodyPr anchor="t">
                      <a:noAutofit/>
                    </a:bodyPr>
                    <a:p>
                      <a:pPr>
                        <a:lnSpc>
                          <a:spcPct val="100000"/>
                        </a:lnSpc>
                      </a:pPr>
                      <a:r>
                        <a:rPr lang="en-US" sz="1650" b="0" u="none" strike="noStrike">
                          <a:solidFill>
                            <a:srgbClr val="132238"/>
                          </a:solidFill>
                          <a:effectLst/>
                          <a:uFillTx/>
                          <a:latin typeface="DejaVu Sans"/>
                          <a:ea typeface="DejaVu Sans"/>
                        </a:rPr>
                        <a:t>Packet loss</a:t>
                      </a:r>
                      <a:endParaRPr lang="en-US" sz="165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3.97 Mbps</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0.64%</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Restored in 3.30 s</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496440">
                <a:tc>
                  <a:txBody>
                    <a:bodyPr anchor="t">
                      <a:noAutofit/>
                    </a:bodyPr>
                    <a:p>
                      <a:pPr>
                        <a:lnSpc>
                          <a:spcPct val="100000"/>
                        </a:lnSpc>
                      </a:pPr>
                      <a:r>
                        <a:rPr lang="en-US" sz="1650" b="0" u="none" strike="noStrike">
                          <a:solidFill>
                            <a:srgbClr val="132238"/>
                          </a:solidFill>
                          <a:effectLst/>
                          <a:uFillTx/>
                          <a:latin typeface="DejaVu Sans"/>
                          <a:ea typeface="DejaVu Sans"/>
                        </a:rPr>
                        <a:t>Congestion</a:t>
                      </a:r>
                      <a:endParaRPr lang="en-US" sz="165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3.89 Mbps</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2.81%</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Restored in 4.98 s</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496440">
                <a:tc>
                  <a:txBody>
                    <a:bodyPr anchor="t">
                      <a:noAutofit/>
                    </a:bodyPr>
                    <a:p>
                      <a:pPr>
                        <a:lnSpc>
                          <a:spcPct val="100000"/>
                        </a:lnSpc>
                      </a:pPr>
                      <a:r>
                        <a:rPr lang="en-US" sz="1650" b="0" u="none" strike="noStrike">
                          <a:solidFill>
                            <a:srgbClr val="132238"/>
                          </a:solidFill>
                          <a:effectLst/>
                          <a:uFillTx/>
                          <a:latin typeface="DejaVu Sans"/>
                          <a:ea typeface="DejaVu Sans"/>
                        </a:rPr>
                        <a:t>Increased delay</a:t>
                      </a:r>
                      <a:endParaRPr lang="en-US" sz="165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4.00 Mbps</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0.01%</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Restored in 3.33 s</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496440">
                <a:tc>
                  <a:txBody>
                    <a:bodyPr anchor="t">
                      <a:noAutofit/>
                    </a:bodyPr>
                    <a:p>
                      <a:pPr>
                        <a:lnSpc>
                          <a:spcPct val="100000"/>
                        </a:lnSpc>
                      </a:pPr>
                      <a:r>
                        <a:rPr lang="en-US" sz="1650" b="0" u="none" strike="noStrike">
                          <a:solidFill>
                            <a:srgbClr val="132238"/>
                          </a:solidFill>
                          <a:effectLst/>
                          <a:uFillTx/>
                          <a:latin typeface="DejaVu Sans"/>
                          <a:ea typeface="DejaVu Sans"/>
                        </a:rPr>
                        <a:t>Both paths down</a:t>
                      </a:r>
                      <a:endParaRPr lang="en-US" sz="165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2.00 Mbps</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50.02%</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650" b="0" u="none" strike="noStrike">
                          <a:solidFill>
                            <a:srgbClr val="132238"/>
                          </a:solidFill>
                          <a:effectLst/>
                          <a:uFillTx/>
                          <a:latin typeface="DejaVu Sans"/>
                          <a:ea typeface="DejaVu Sans"/>
                        </a:rPr>
                        <a:t>No healthy alternative</a:t>
                      </a:r>
                      <a:endParaRPr lang="en-US" sz="165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 name=""/>
          <p:cNvSpPr/>
          <p:nvPr/>
        </p:nvSpPr>
        <p:spPr>
          <a:xfrm>
            <a:off x="609480" y="428760"/>
            <a:ext cx="1097244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80" b="1" u="none" strike="noStrike">
                <a:solidFill>
                  <a:srgbClr val="132238"/>
                </a:solidFill>
                <a:effectLst/>
                <a:uFillTx/>
                <a:latin typeface="DejaVu Sans"/>
                <a:ea typeface="DejaVu Sans"/>
              </a:rPr>
              <a:t>How long did recovery confirmation take</a:t>
            </a:r>
            <a:endParaRPr lang="en-US" sz="3380" b="0" u="none" strike="noStrike">
              <a:solidFill>
                <a:srgbClr val="000000"/>
              </a:solidFill>
              <a:effectLst/>
              <a:uFillTx/>
              <a:latin typeface="Arial"/>
            </a:endParaRPr>
          </a:p>
        </p:txBody>
      </p:sp>
      <p:graphicFrame>
        <p:nvGraphicFramePr>
          <p:cNvPr id="66" name="Chart"/>
          <p:cNvGraphicFramePr/>
          <p:nvPr/>
        </p:nvGraphicFramePr>
        <p:xfrm>
          <a:off x="762120" y="1428840"/>
          <a:ext cx="10667520" cy="3809520"/>
        </p:xfrm>
        <a:graphic>
          <a:graphicData uri="http://schemas.openxmlformats.org/drawingml/2006/chart">
            <c:chart xmlns:c="http://schemas.openxmlformats.org/drawingml/2006/chart" xmlns:r="http://schemas.openxmlformats.org/officeDocument/2006/relationships" r:id="rId1"/>
          </a:graphicData>
        </a:graphic>
      </p:graphicFrame>
      <p:sp>
        <p:nvSpPr>
          <p:cNvPr id="67" name=""/>
          <p:cNvSpPr/>
          <p:nvPr/>
        </p:nvSpPr>
        <p:spPr>
          <a:xfrm>
            <a:off x="609480" y="5524560"/>
            <a:ext cx="10953360" cy="809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950" b="0" u="none" strike="noStrike">
                <a:solidFill>
                  <a:srgbClr val="132238"/>
                </a:solidFill>
                <a:effectLst/>
                <a:uFillTx/>
                <a:latin typeface="DejaVu Sans"/>
                <a:ea typeface="DejaVu Sans"/>
              </a:rPr>
              <a:t>A shorter bar means earlier confirmation in that run. Link failure took about 8 seconds including probe waits and confirmation.</a:t>
            </a:r>
            <a:endParaRPr lang="en-US" sz="1950" b="0" u="none" strike="noStrike">
              <a:solidFill>
                <a:srgbClr val="000000"/>
              </a:solidFill>
              <a:effectLst/>
              <a:uFillTx/>
              <a:latin typeface="Arial"/>
            </a:endParaRPr>
          </a:p>
        </p:txBody>
      </p:sp>
      <p:sp>
        <p:nvSpPr>
          <p:cNvPr id="68" name=""/>
          <p:cNvSpPr/>
          <p:nvPr/>
        </p:nvSpPr>
        <p:spPr>
          <a:xfrm>
            <a:off x="609480" y="6334200"/>
            <a:ext cx="1095336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580" b="0" u="none" strike="noStrike">
                <a:solidFill>
                  <a:srgbClr val="1D4ED8"/>
                </a:solidFill>
                <a:effectLst/>
                <a:uFillTx/>
                <a:latin typeface="DejaVu Sans"/>
                <a:ea typeface="DejaVu Sans"/>
              </a:rPr>
              <a:t>Normal needs no recovery; both paths down has no reroute recovery. Neither means zero seconds.</a:t>
            </a:r>
            <a:endParaRPr lang="en-US" sz="15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
          <p:cNvSpPr/>
          <p:nvPr/>
        </p:nvSpPr>
        <p:spPr>
          <a:xfrm>
            <a:off x="609480" y="428760"/>
            <a:ext cx="1097244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80" b="1" u="none" strike="noStrike">
                <a:solidFill>
                  <a:srgbClr val="132238"/>
                </a:solidFill>
                <a:effectLst/>
                <a:uFillTx/>
                <a:latin typeface="DejaVu Sans"/>
                <a:ea typeface="DejaVu Sans"/>
              </a:rPr>
              <a:t>Which method handled packet loss</a:t>
            </a:r>
            <a:endParaRPr lang="en-US" sz="3380" b="0" u="none" strike="noStrike">
              <a:solidFill>
                <a:srgbClr val="000000"/>
              </a:solidFill>
              <a:effectLst/>
              <a:uFillTx/>
              <a:latin typeface="Arial"/>
            </a:endParaRPr>
          </a:p>
        </p:txBody>
      </p:sp>
      <p:sp>
        <p:nvSpPr>
          <p:cNvPr id="70" name=""/>
          <p:cNvSpPr/>
          <p:nvPr/>
        </p:nvSpPr>
        <p:spPr>
          <a:xfrm>
            <a:off x="609480" y="5191200"/>
            <a:ext cx="10953360" cy="7138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32238"/>
                </a:solidFill>
                <a:effectLst/>
                <a:uFillTx/>
                <a:latin typeface="DejaVu Sans"/>
                <a:ea typeface="DejaVu Sans"/>
              </a:rPr>
              <a:t>The same packet-loss scenario ran once with each method. Both guarded RF and fixed rules restored communication. RF alone missed it.</a:t>
            </a:r>
            <a:endParaRPr lang="en-US" sz="1870" b="0" u="none" strike="noStrike">
              <a:solidFill>
                <a:srgbClr val="000000"/>
              </a:solidFill>
              <a:effectLst/>
              <a:uFillTx/>
              <a:latin typeface="Arial"/>
            </a:endParaRPr>
          </a:p>
        </p:txBody>
      </p:sp>
      <p:sp>
        <p:nvSpPr>
          <p:cNvPr id="71" name=""/>
          <p:cNvSpPr/>
          <p:nvPr/>
        </p:nvSpPr>
        <p:spPr>
          <a:xfrm>
            <a:off x="609480" y="6048360"/>
            <a:ext cx="10953360" cy="6188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D4ED8"/>
                </a:solidFill>
                <a:effectLst/>
                <a:uFillTx/>
                <a:latin typeface="DejaVu Sans"/>
                <a:ea typeface="DejaVu Sans"/>
              </a:rPr>
              <a:t>The guard helps in this test. A small timing difference between successful methods does not prove that one is consistently faster.</a:t>
            </a:r>
            <a:endParaRPr lang="en-US" sz="1870" b="0" u="none" strike="noStrike">
              <a:solidFill>
                <a:srgbClr val="000000"/>
              </a:solidFill>
              <a:effectLst/>
              <a:uFillTx/>
              <a:latin typeface="Arial"/>
            </a:endParaRPr>
          </a:p>
        </p:txBody>
      </p:sp>
      <p:graphicFrame>
        <p:nvGraphicFramePr>
          <p:cNvPr id="72" name=""/>
          <p:cNvGraphicFramePr/>
          <p:nvPr/>
        </p:nvGraphicFramePr>
        <p:xfrm>
          <a:off x="609480" y="1571760"/>
          <a:ext cx="10953360" cy="3190680"/>
        </p:xfrm>
        <a:graphic>
          <a:graphicData uri="http://schemas.openxmlformats.org/drawingml/2006/table">
            <a:tbl>
              <a:tblPr/>
              <a:tblGrid>
                <a:gridCol w="3047760"/>
                <a:gridCol w="2666880"/>
                <a:gridCol w="2571480"/>
                <a:gridCol w="2666880"/>
              </a:tblGrid>
              <a:tr h="637920">
                <a:tc>
                  <a:txBody>
                    <a:bodyPr anchor="t">
                      <a:noAutofit/>
                    </a:bodyPr>
                    <a:p>
                      <a:pPr>
                        <a:lnSpc>
                          <a:spcPct val="100000"/>
                        </a:lnSpc>
                      </a:pPr>
                      <a:r>
                        <a:rPr lang="en-US" sz="1800" b="1" u="none" strike="noStrike">
                          <a:solidFill>
                            <a:srgbClr val="132238"/>
                          </a:solidFill>
                          <a:effectLst/>
                          <a:uFillTx/>
                          <a:latin typeface="DejaVu Sans"/>
                          <a:ea typeface="DejaVu Sans"/>
                        </a:rPr>
                        <a:t>Packet-loss test</a:t>
                      </a:r>
                      <a:endParaRPr lang="en-US" sz="180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9360">
                      <a:solidFill>
                        <a:srgbClr val="D5DFE8"/>
                      </a:solidFill>
                      <a:prstDash val="solid"/>
                    </a:lnT>
                    <a:lnB w="9360">
                      <a:solidFill>
                        <a:srgbClr val="D5DFE8"/>
                      </a:solidFill>
                      <a:prstDash val="solid"/>
                    </a:lnB>
                    <a:solidFill>
                      <a:srgbClr val="EAF0F5"/>
                    </a:solidFill>
                  </a:tcPr>
                </a:tc>
                <a:tc>
                  <a:txBody>
                    <a:bodyPr anchor="t">
                      <a:noAutofit/>
                    </a:bodyPr>
                    <a:p>
                      <a:pPr>
                        <a:lnSpc>
                          <a:spcPct val="100000"/>
                        </a:lnSpc>
                      </a:pPr>
                      <a:r>
                        <a:rPr lang="en-US" sz="1800" b="1" u="none" strike="noStrike">
                          <a:solidFill>
                            <a:srgbClr val="132238"/>
                          </a:solidFill>
                          <a:effectLst/>
                          <a:uFillTx/>
                          <a:latin typeface="DejaVu Sans"/>
                          <a:ea typeface="DejaVu Sans"/>
                        </a:rPr>
                        <a:t>RF + guard</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9360">
                      <a:solidFill>
                        <a:srgbClr val="D5DFE8"/>
                      </a:solidFill>
                      <a:prstDash val="solid"/>
                    </a:lnT>
                    <a:lnB w="9360">
                      <a:solidFill>
                        <a:srgbClr val="D5DFE8"/>
                      </a:solidFill>
                      <a:prstDash val="solid"/>
                    </a:lnB>
                    <a:solidFill>
                      <a:srgbClr val="EAF0F5"/>
                    </a:solidFill>
                  </a:tcPr>
                </a:tc>
                <a:tc>
                  <a:txBody>
                    <a:bodyPr anchor="t">
                      <a:noAutofit/>
                    </a:bodyPr>
                    <a:p>
                      <a:pPr>
                        <a:lnSpc>
                          <a:spcPct val="100000"/>
                        </a:lnSpc>
                      </a:pPr>
                      <a:r>
                        <a:rPr lang="en-US" sz="1800" b="1" u="none" strike="noStrike">
                          <a:solidFill>
                            <a:srgbClr val="132238"/>
                          </a:solidFill>
                          <a:effectLst/>
                          <a:uFillTx/>
                          <a:latin typeface="DejaVu Sans"/>
                          <a:ea typeface="DejaVu Sans"/>
                        </a:rPr>
                        <a:t>RF only</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9360">
                      <a:solidFill>
                        <a:srgbClr val="D5DFE8"/>
                      </a:solidFill>
                      <a:prstDash val="solid"/>
                    </a:lnT>
                    <a:lnB w="9360">
                      <a:solidFill>
                        <a:srgbClr val="D5DFE8"/>
                      </a:solidFill>
                      <a:prstDash val="solid"/>
                    </a:lnB>
                    <a:solidFill>
                      <a:srgbClr val="EAF0F5"/>
                    </a:solidFill>
                  </a:tcPr>
                </a:tc>
                <a:tc>
                  <a:txBody>
                    <a:bodyPr anchor="t">
                      <a:noAutofit/>
                    </a:bodyPr>
                    <a:p>
                      <a:pPr>
                        <a:lnSpc>
                          <a:spcPct val="100000"/>
                        </a:lnSpc>
                      </a:pPr>
                      <a:r>
                        <a:rPr lang="en-US" sz="1800" b="1" u="none" strike="noStrike">
                          <a:solidFill>
                            <a:srgbClr val="132238"/>
                          </a:solidFill>
                          <a:effectLst/>
                          <a:uFillTx/>
                          <a:latin typeface="DejaVu Sans"/>
                          <a:ea typeface="DejaVu Sans"/>
                        </a:rPr>
                        <a:t>Fixed rules</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9360">
                      <a:solidFill>
                        <a:srgbClr val="D5DFE8"/>
                      </a:solidFill>
                      <a:prstDash val="solid"/>
                    </a:lnT>
                    <a:lnB w="9360">
                      <a:solidFill>
                        <a:srgbClr val="D5DFE8"/>
                      </a:solidFill>
                      <a:prstDash val="solid"/>
                    </a:lnB>
                    <a:solidFill>
                      <a:srgbClr val="EAF0F5"/>
                    </a:solidFill>
                  </a:tcPr>
                </a:tc>
              </a:tr>
              <a:tr h="637920">
                <a:tc>
                  <a:txBody>
                    <a:bodyPr anchor="t">
                      <a:noAutofit/>
                    </a:bodyPr>
                    <a:p>
                      <a:pPr>
                        <a:lnSpc>
                          <a:spcPct val="100000"/>
                        </a:lnSpc>
                      </a:pPr>
                      <a:r>
                        <a:rPr lang="en-US" sz="1800" b="0" u="none" strike="noStrike">
                          <a:solidFill>
                            <a:srgbClr val="132238"/>
                          </a:solidFill>
                          <a:effectLst/>
                          <a:uFillTx/>
                          <a:latin typeface="DejaVu Sans"/>
                          <a:ea typeface="DejaVu Sans"/>
                        </a:rPr>
                        <a:t>Changed route?</a:t>
                      </a:r>
                      <a:endParaRPr lang="en-US" sz="180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00" b="0" u="none" strike="noStrike">
                          <a:solidFill>
                            <a:srgbClr val="132238"/>
                          </a:solidFill>
                          <a:effectLst/>
                          <a:uFillTx/>
                          <a:latin typeface="DejaVu Sans"/>
                          <a:ea typeface="DejaVu Sans"/>
                        </a:rPr>
                        <a:t>Yes</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00" b="0" u="none" strike="noStrike">
                          <a:solidFill>
                            <a:srgbClr val="132238"/>
                          </a:solidFill>
                          <a:effectLst/>
                          <a:uFillTx/>
                          <a:latin typeface="DejaVu Sans"/>
                          <a:ea typeface="DejaVu Sans"/>
                        </a:rPr>
                        <a:t>No</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00" b="0" u="none" strike="noStrike">
                          <a:solidFill>
                            <a:srgbClr val="132238"/>
                          </a:solidFill>
                          <a:effectLst/>
                          <a:uFillTx/>
                          <a:latin typeface="DejaVu Sans"/>
                          <a:ea typeface="DejaVu Sans"/>
                        </a:rPr>
                        <a:t>Yes</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637920">
                <a:tc>
                  <a:txBody>
                    <a:bodyPr anchor="t">
                      <a:noAutofit/>
                    </a:bodyPr>
                    <a:p>
                      <a:pPr>
                        <a:lnSpc>
                          <a:spcPct val="100000"/>
                        </a:lnSpc>
                      </a:pPr>
                      <a:r>
                        <a:rPr lang="en-US" sz="1800" b="0" u="none" strike="noStrike">
                          <a:solidFill>
                            <a:srgbClr val="132238"/>
                          </a:solidFill>
                          <a:effectLst/>
                          <a:uFillTx/>
                          <a:latin typeface="DejaVu Sans"/>
                          <a:ea typeface="DejaVu Sans"/>
                        </a:rPr>
                        <a:t>Confirmed recovery</a:t>
                      </a:r>
                      <a:endParaRPr lang="en-US" sz="180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00" b="0" u="none" strike="noStrike">
                          <a:solidFill>
                            <a:srgbClr val="132238"/>
                          </a:solidFill>
                          <a:effectLst/>
                          <a:uFillTx/>
                          <a:latin typeface="DejaVu Sans"/>
                          <a:ea typeface="DejaVu Sans"/>
                        </a:rPr>
                        <a:t>3.30 s</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00" b="0" u="none" strike="noStrike">
                          <a:solidFill>
                            <a:srgbClr val="132238"/>
                          </a:solidFill>
                          <a:effectLst/>
                          <a:uFillTx/>
                          <a:latin typeface="DejaVu Sans"/>
                          <a:ea typeface="DejaVu Sans"/>
                        </a:rPr>
                        <a:t>Not observed</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00" b="0" u="none" strike="noStrike">
                          <a:solidFill>
                            <a:srgbClr val="132238"/>
                          </a:solidFill>
                          <a:effectLst/>
                          <a:uFillTx/>
                          <a:latin typeface="DejaVu Sans"/>
                          <a:ea typeface="DejaVu Sans"/>
                        </a:rPr>
                        <a:t>3.35 s</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637920">
                <a:tc>
                  <a:txBody>
                    <a:bodyPr anchor="t">
                      <a:noAutofit/>
                    </a:bodyPr>
                    <a:p>
                      <a:pPr>
                        <a:lnSpc>
                          <a:spcPct val="100000"/>
                        </a:lnSpc>
                      </a:pPr>
                      <a:r>
                        <a:rPr lang="en-US" sz="1800" b="0" u="none" strike="noStrike">
                          <a:solidFill>
                            <a:srgbClr val="132238"/>
                          </a:solidFill>
                          <a:effectLst/>
                          <a:uFillTx/>
                          <a:latin typeface="DejaVu Sans"/>
                          <a:ea typeface="DejaVu Sans"/>
                        </a:rPr>
                        <a:t>Data received</a:t>
                      </a:r>
                      <a:endParaRPr lang="en-US" sz="180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00" b="0" u="none" strike="noStrike">
                          <a:solidFill>
                            <a:srgbClr val="132238"/>
                          </a:solidFill>
                          <a:effectLst/>
                          <a:uFillTx/>
                          <a:latin typeface="DejaVu Sans"/>
                          <a:ea typeface="DejaVu Sans"/>
                        </a:rPr>
                        <a:t>3.97 Mbps</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00" b="0" u="none" strike="noStrike">
                          <a:solidFill>
                            <a:srgbClr val="132238"/>
                          </a:solidFill>
                          <a:effectLst/>
                          <a:uFillTx/>
                          <a:latin typeface="DejaVu Sans"/>
                          <a:ea typeface="DejaVu Sans"/>
                        </a:rPr>
                        <a:t>3.63 Mbps</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00" b="0" u="none" strike="noStrike">
                          <a:solidFill>
                            <a:srgbClr val="132238"/>
                          </a:solidFill>
                          <a:effectLst/>
                          <a:uFillTx/>
                          <a:latin typeface="DejaVu Sans"/>
                          <a:ea typeface="DejaVu Sans"/>
                        </a:rPr>
                        <a:t>3.97 Mbps</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637920">
                <a:tc>
                  <a:txBody>
                    <a:bodyPr anchor="t">
                      <a:noAutofit/>
                    </a:bodyPr>
                    <a:p>
                      <a:pPr>
                        <a:lnSpc>
                          <a:spcPct val="100000"/>
                        </a:lnSpc>
                      </a:pPr>
                      <a:r>
                        <a:rPr lang="en-US" sz="1800" b="0" u="none" strike="noStrike">
                          <a:solidFill>
                            <a:srgbClr val="132238"/>
                          </a:solidFill>
                          <a:effectLst/>
                          <a:uFillTx/>
                          <a:latin typeface="DejaVu Sans"/>
                          <a:ea typeface="DejaVu Sans"/>
                        </a:rPr>
                        <a:t>Packets lost</a:t>
                      </a:r>
                      <a:endParaRPr lang="en-US" sz="1800"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00" b="0" u="none" strike="noStrike">
                          <a:solidFill>
                            <a:srgbClr val="132238"/>
                          </a:solidFill>
                          <a:effectLst/>
                          <a:uFillTx/>
                          <a:latin typeface="DejaVu Sans"/>
                          <a:ea typeface="DejaVu Sans"/>
                        </a:rPr>
                        <a:t>0.64%</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00" b="0" u="none" strike="noStrike">
                          <a:solidFill>
                            <a:srgbClr val="132238"/>
                          </a:solidFill>
                          <a:effectLst/>
                          <a:uFillTx/>
                          <a:latin typeface="DejaVu Sans"/>
                          <a:ea typeface="DejaVu Sans"/>
                        </a:rPr>
                        <a:t>9.24%</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800" b="0" u="none" strike="noStrike">
                          <a:solidFill>
                            <a:srgbClr val="132238"/>
                          </a:solidFill>
                          <a:effectLst/>
                          <a:uFillTx/>
                          <a:latin typeface="DejaVu Sans"/>
                          <a:ea typeface="DejaVu Sans"/>
                        </a:rPr>
                        <a:t>0.72%</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
          <p:cNvSpPr/>
          <p:nvPr/>
        </p:nvSpPr>
        <p:spPr>
          <a:xfrm>
            <a:off x="609480" y="428760"/>
            <a:ext cx="1097244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80" b="1" u="none" strike="noStrike">
                <a:solidFill>
                  <a:srgbClr val="132238"/>
                </a:solidFill>
                <a:effectLst/>
                <a:uFillTx/>
                <a:latin typeface="DejaVu Sans"/>
                <a:ea typeface="DejaVu Sans"/>
              </a:rPr>
              <a:t>How much application traffic was lost</a:t>
            </a:r>
            <a:endParaRPr lang="en-US" sz="3380" b="0" u="none" strike="noStrike">
              <a:solidFill>
                <a:srgbClr val="000000"/>
              </a:solidFill>
              <a:effectLst/>
              <a:uFillTx/>
              <a:latin typeface="Arial"/>
            </a:endParaRPr>
          </a:p>
        </p:txBody>
      </p:sp>
      <p:graphicFrame>
        <p:nvGraphicFramePr>
          <p:cNvPr id="74" name="Chart"/>
          <p:cNvGraphicFramePr/>
          <p:nvPr/>
        </p:nvGraphicFramePr>
        <p:xfrm>
          <a:off x="762120" y="1428840"/>
          <a:ext cx="10667520" cy="3809520"/>
        </p:xfrm>
        <a:graphic>
          <a:graphicData uri="http://schemas.openxmlformats.org/drawingml/2006/chart">
            <c:chart xmlns:c="http://schemas.openxmlformats.org/drawingml/2006/chart" xmlns:r="http://schemas.openxmlformats.org/officeDocument/2006/relationships" r:id="rId1"/>
          </a:graphicData>
        </a:graphic>
      </p:graphicFrame>
      <p:sp>
        <p:nvSpPr>
          <p:cNvPr id="75" name=""/>
          <p:cNvSpPr/>
          <p:nvPr/>
        </p:nvSpPr>
        <p:spPr>
          <a:xfrm>
            <a:off x="609480" y="5524560"/>
            <a:ext cx="10953360" cy="809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32238"/>
                </a:solidFill>
                <a:effectLst/>
                <a:uFillTx/>
                <a:latin typeface="DejaVu Sans"/>
                <a:ea typeface="DejaVu Sans"/>
              </a:rPr>
              <a:t>RF only lost about 9.24% of application packets in this run. Guarded RF lost 0.64%, and fixed rules lost 0.72%.</a:t>
            </a:r>
            <a:endParaRPr lang="en-US" sz="2020" b="0" u="none" strike="noStrike">
              <a:solidFill>
                <a:srgbClr val="000000"/>
              </a:solidFill>
              <a:effectLst/>
              <a:uFillTx/>
              <a:latin typeface="Arial"/>
            </a:endParaRPr>
          </a:p>
        </p:txBody>
      </p:sp>
      <p:sp>
        <p:nvSpPr>
          <p:cNvPr id="76" name=""/>
          <p:cNvSpPr/>
          <p:nvPr/>
        </p:nvSpPr>
        <p:spPr>
          <a:xfrm>
            <a:off x="609480" y="6381720"/>
            <a:ext cx="10953360" cy="3805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650" b="0" u="none" strike="noStrike">
                <a:solidFill>
                  <a:srgbClr val="1D4ED8"/>
                </a:solidFill>
                <a:effectLst/>
                <a:uFillTx/>
                <a:latin typeface="DejaVu Sans"/>
                <a:ea typeface="DejaVu Sans"/>
              </a:rPr>
              <a:t>Receiver-side UDP loss differs from primary-path ping loss.</a:t>
            </a:r>
            <a:endParaRPr lang="en-US" sz="16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
          <p:cNvSpPr/>
          <p:nvPr/>
        </p:nvSpPr>
        <p:spPr>
          <a:xfrm>
            <a:off x="609480" y="428760"/>
            <a:ext cx="1097244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80" b="1" u="none" strike="noStrike">
                <a:solidFill>
                  <a:srgbClr val="132238"/>
                </a:solidFill>
                <a:effectLst/>
                <a:uFillTx/>
                <a:latin typeface="DejaVu Sans"/>
                <a:ea typeface="DejaVu Sans"/>
              </a:rPr>
              <a:t>Why RF needs safeguards</a:t>
            </a:r>
            <a:endParaRPr lang="en-US" sz="3380" b="0" u="none" strike="noStrike">
              <a:solidFill>
                <a:srgbClr val="000000"/>
              </a:solidFill>
              <a:effectLst/>
              <a:uFillTx/>
              <a:latin typeface="Arial"/>
            </a:endParaRPr>
          </a:p>
        </p:txBody>
      </p:sp>
      <p:sp>
        <p:nvSpPr>
          <p:cNvPr id="78" name=""/>
          <p:cNvSpPr/>
          <p:nvPr/>
        </p:nvSpPr>
        <p:spPr>
          <a:xfrm>
            <a:off x="609480" y="5095800"/>
            <a:ext cx="10953360" cy="7617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32238"/>
                </a:solidFill>
                <a:effectLst/>
                <a:uFillTx/>
                <a:latin typeface="DejaVu Sans"/>
                <a:ea typeface="DejaVu Sans"/>
              </a:rPr>
              <a:t>The stored model report says 100% on 544 validation rows. This is not a guarantee for new faults or networks.</a:t>
            </a:r>
            <a:endParaRPr lang="en-US" sz="1870" b="0" u="none" strike="noStrike">
              <a:solidFill>
                <a:srgbClr val="000000"/>
              </a:solidFill>
              <a:effectLst/>
              <a:uFillTx/>
              <a:latin typeface="Arial"/>
            </a:endParaRPr>
          </a:p>
        </p:txBody>
      </p:sp>
      <p:sp>
        <p:nvSpPr>
          <p:cNvPr id="79" name=""/>
          <p:cNvSpPr/>
          <p:nvPr/>
        </p:nvSpPr>
        <p:spPr>
          <a:xfrm>
            <a:off x="609480" y="5952960"/>
            <a:ext cx="10953360" cy="6663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D4ED8"/>
                </a:solidFill>
                <a:effectLst/>
                <a:uFillTx/>
                <a:latin typeface="DejaVu Sans"/>
                <a:ea typeface="DejaVu Sans"/>
              </a:rPr>
              <a:t>The 0.65 decision threshold does not mean 65% accuracy. A guarded success cannot be credited entirely to RF.</a:t>
            </a:r>
            <a:endParaRPr lang="en-US" sz="1870" b="0" u="none" strike="noStrike">
              <a:solidFill>
                <a:srgbClr val="000000"/>
              </a:solidFill>
              <a:effectLst/>
              <a:uFillTx/>
              <a:latin typeface="Arial"/>
            </a:endParaRPr>
          </a:p>
        </p:txBody>
      </p:sp>
      <p:graphicFrame>
        <p:nvGraphicFramePr>
          <p:cNvPr id="80" name=""/>
          <p:cNvGraphicFramePr/>
          <p:nvPr/>
        </p:nvGraphicFramePr>
        <p:xfrm>
          <a:off x="609480" y="1571760"/>
          <a:ext cx="10953360" cy="3142800"/>
        </p:xfrm>
        <a:graphic>
          <a:graphicData uri="http://schemas.openxmlformats.org/drawingml/2006/table">
            <a:tbl>
              <a:tblPr/>
              <a:tblGrid>
                <a:gridCol w="3524040"/>
                <a:gridCol w="7429320"/>
              </a:tblGrid>
              <a:tr h="523800">
                <a:tc>
                  <a:txBody>
                    <a:bodyPr anchor="t">
                      <a:noAutofit/>
                    </a:bodyPr>
                    <a:p>
                      <a:pPr>
                        <a:lnSpc>
                          <a:spcPct val="100000"/>
                        </a:lnSpc>
                      </a:pPr>
                      <a:r>
                        <a:rPr lang="en-US" sz="1729" b="1" u="none" strike="noStrike">
                          <a:solidFill>
                            <a:srgbClr val="132238"/>
                          </a:solidFill>
                          <a:effectLst/>
                          <a:uFillTx/>
                          <a:latin typeface="DejaVu Sans"/>
                          <a:ea typeface="DejaVu Sans"/>
                        </a:rPr>
                        <a:t>Question</a:t>
                      </a:r>
                      <a:endParaRPr lang="en-US" sz="1729"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9360">
                      <a:solidFill>
                        <a:srgbClr val="D5DFE8"/>
                      </a:solidFill>
                      <a:prstDash val="solid"/>
                    </a:lnT>
                    <a:lnB w="9360">
                      <a:solidFill>
                        <a:srgbClr val="D5DFE8"/>
                      </a:solidFill>
                      <a:prstDash val="solid"/>
                    </a:lnB>
                    <a:solidFill>
                      <a:srgbClr val="EAF0F5"/>
                    </a:solidFill>
                  </a:tcPr>
                </a:tc>
                <a:tc>
                  <a:txBody>
                    <a:bodyPr anchor="t">
                      <a:noAutofit/>
                    </a:bodyPr>
                    <a:p>
                      <a:pPr>
                        <a:lnSpc>
                          <a:spcPct val="100000"/>
                        </a:lnSpc>
                      </a:pPr>
                      <a:r>
                        <a:rPr lang="en-US" sz="1729" b="1" u="none" strike="noStrike">
                          <a:solidFill>
                            <a:srgbClr val="132238"/>
                          </a:solidFill>
                          <a:effectLst/>
                          <a:uFillTx/>
                          <a:latin typeface="DejaVu Sans"/>
                          <a:ea typeface="DejaVu Sans"/>
                        </a:rPr>
                        <a:t>What the current implementation does</a:t>
                      </a:r>
                      <a:endParaRPr lang="en-US" sz="1729"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9360">
                      <a:solidFill>
                        <a:srgbClr val="D5DFE8"/>
                      </a:solidFill>
                      <a:prstDash val="solid"/>
                    </a:lnT>
                    <a:lnB w="9360">
                      <a:solidFill>
                        <a:srgbClr val="D5DFE8"/>
                      </a:solidFill>
                      <a:prstDash val="solid"/>
                    </a:lnB>
                    <a:solidFill>
                      <a:srgbClr val="EAF0F5"/>
                    </a:solidFill>
                  </a:tcPr>
                </a:tc>
              </a:tr>
              <a:tr h="523800">
                <a:tc>
                  <a:txBody>
                    <a:bodyPr anchor="t">
                      <a:noAutofit/>
                    </a:bodyPr>
                    <a:p>
                      <a:pPr>
                        <a:lnSpc>
                          <a:spcPct val="100000"/>
                        </a:lnSpc>
                      </a:pPr>
                      <a:r>
                        <a:rPr lang="en-US" sz="1729" b="0" u="none" strike="noStrike">
                          <a:solidFill>
                            <a:srgbClr val="132238"/>
                          </a:solidFill>
                          <a:effectLst/>
                          <a:uFillTx/>
                          <a:latin typeface="DejaVu Sans"/>
                          <a:ea typeface="DejaVu Sans"/>
                        </a:rPr>
                        <a:t>What does RF read?</a:t>
                      </a:r>
                      <a:endParaRPr lang="en-US" sz="1729"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729" b="0" u="none" strike="noStrike">
                          <a:solidFill>
                            <a:srgbClr val="132238"/>
                          </a:solidFill>
                          <a:effectLst/>
                          <a:uFillTx/>
                          <a:latin typeface="DejaVu Sans"/>
                          <a:ea typeface="DejaVu Sans"/>
                        </a:rPr>
                        <a:t>Loss, round trip time, RTT variation and utilization</a:t>
                      </a:r>
                      <a:endParaRPr lang="en-US" sz="1729"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523800">
                <a:tc>
                  <a:txBody>
                    <a:bodyPr anchor="t">
                      <a:noAutofit/>
                    </a:bodyPr>
                    <a:p>
                      <a:pPr>
                        <a:lnSpc>
                          <a:spcPct val="100000"/>
                        </a:lnSpc>
                      </a:pPr>
                      <a:r>
                        <a:rPr lang="en-US" sz="1729" b="0" u="none" strike="noStrike">
                          <a:solidFill>
                            <a:srgbClr val="132238"/>
                          </a:solidFill>
                          <a:effectLst/>
                          <a:uFillTx/>
                          <a:latin typeface="DejaVu Sans"/>
                          <a:ea typeface="DejaVu Sans"/>
                        </a:rPr>
                        <a:t>What does the guard add?</a:t>
                      </a:r>
                      <a:endParaRPr lang="en-US" sz="1729"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729" b="0" u="none" strike="noStrike">
                          <a:solidFill>
                            <a:srgbClr val="132238"/>
                          </a:solidFill>
                          <a:effectLst/>
                          <a:uFillTx/>
                          <a:latin typeface="DejaVu Sans"/>
                          <a:ea typeface="DejaVu Sans"/>
                        </a:rPr>
                        <a:t>It declares measured loss of 15% or more unhealthy.</a:t>
                      </a:r>
                      <a:endParaRPr lang="en-US" sz="1729"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523800">
                <a:tc>
                  <a:txBody>
                    <a:bodyPr anchor="t">
                      <a:noAutofit/>
                    </a:bodyPr>
                    <a:p>
                      <a:pPr>
                        <a:lnSpc>
                          <a:spcPct val="100000"/>
                        </a:lnSpc>
                      </a:pPr>
                      <a:r>
                        <a:rPr lang="en-US" sz="1729" b="0" u="none" strike="noStrike">
                          <a:solidFill>
                            <a:srgbClr val="132238"/>
                          </a:solidFill>
                          <a:effectLst/>
                          <a:uFillTx/>
                          <a:latin typeface="DejaVu Sans"/>
                          <a:ea typeface="DejaVu Sans"/>
                        </a:rPr>
                        <a:t>What handles a broken link?</a:t>
                      </a:r>
                      <a:endParaRPr lang="en-US" sz="1729"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729" b="0" u="none" strike="noStrike">
                          <a:solidFill>
                            <a:srgbClr val="132238"/>
                          </a:solidFill>
                          <a:effectLst/>
                          <a:uFillTx/>
                          <a:latin typeface="DejaVu Sans"/>
                          <a:ea typeface="DejaVu Sans"/>
                        </a:rPr>
                        <a:t>A separate link-state check</a:t>
                      </a:r>
                      <a:endParaRPr lang="en-US" sz="1729"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523800">
                <a:tc>
                  <a:txBody>
                    <a:bodyPr anchor="t">
                      <a:noAutofit/>
                    </a:bodyPr>
                    <a:p>
                      <a:pPr>
                        <a:lnSpc>
                          <a:spcPct val="100000"/>
                        </a:lnSpc>
                      </a:pPr>
                      <a:r>
                        <a:rPr lang="en-US" sz="1729" b="0" u="none" strike="noStrike">
                          <a:solidFill>
                            <a:srgbClr val="132238"/>
                          </a:solidFill>
                          <a:effectLst/>
                          <a:uFillTx/>
                          <a:latin typeface="DejaVu Sans"/>
                          <a:ea typeface="DejaVu Sans"/>
                        </a:rPr>
                        <a:t>How reliable is the model?</a:t>
                      </a:r>
                      <a:endParaRPr lang="en-US" sz="1729"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729" b="0" u="none" strike="noStrike">
                          <a:solidFill>
                            <a:srgbClr val="132238"/>
                          </a:solidFill>
                          <a:effectLst/>
                          <a:uFillTx/>
                          <a:latin typeface="DejaVu Sans"/>
                          <a:ea typeface="DejaVu Sans"/>
                        </a:rPr>
                        <a:t>Stored validation covers its original lab data only.</a:t>
                      </a:r>
                      <a:endParaRPr lang="en-US" sz="1729"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r h="523800">
                <a:tc>
                  <a:txBody>
                    <a:bodyPr anchor="t">
                      <a:noAutofit/>
                    </a:bodyPr>
                    <a:p>
                      <a:pPr>
                        <a:lnSpc>
                          <a:spcPct val="100000"/>
                        </a:lnSpc>
                      </a:pPr>
                      <a:r>
                        <a:rPr lang="en-US" sz="1729" b="0" u="none" strike="noStrike">
                          <a:solidFill>
                            <a:srgbClr val="132238"/>
                          </a:solidFill>
                          <a:effectLst/>
                          <a:uFillTx/>
                          <a:latin typeface="DejaVu Sans"/>
                          <a:ea typeface="DejaVu Sans"/>
                        </a:rPr>
                        <a:t>What did the live test expose?</a:t>
                      </a:r>
                      <a:endParaRPr lang="en-US" sz="1729" b="0" u="none" strike="noStrike">
                        <a:solidFill>
                          <a:srgbClr val="000000"/>
                        </a:solidFill>
                        <a:effectLst/>
                        <a:uFillTx/>
                        <a:latin typeface="Arial"/>
                      </a:endParaRPr>
                    </a:p>
                  </a:txBody>
                  <a:tcPr anchor="t" marL="91440" marR="91440" marT="45720" marB="45720">
                    <a:lnL w="9360">
                      <a:solidFill>
                        <a:srgbClr val="D5DFE8"/>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c>
                  <a:txBody>
                    <a:bodyPr anchor="t">
                      <a:noAutofit/>
                    </a:bodyPr>
                    <a:p>
                      <a:pPr>
                        <a:lnSpc>
                          <a:spcPct val="100000"/>
                        </a:lnSpc>
                      </a:pPr>
                      <a:r>
                        <a:rPr lang="en-US" sz="1729" b="0" u="none" strike="noStrike">
                          <a:solidFill>
                            <a:srgbClr val="132238"/>
                          </a:solidFill>
                          <a:effectLst/>
                          <a:uFillTx/>
                          <a:latin typeface="DejaVu Sans"/>
                          <a:ea typeface="DejaVu Sans"/>
                        </a:rPr>
                        <a:t>RF alone missed the packet-loss fault.</a:t>
                      </a:r>
                      <a:endParaRPr lang="en-US" sz="1729" b="0" u="none" strike="noStrike">
                        <a:solidFill>
                          <a:srgbClr val="000000"/>
                        </a:solidFill>
                        <a:effectLst/>
                        <a:uFillTx/>
                        <a:latin typeface="Arial"/>
                      </a:endParaRPr>
                    </a:p>
                  </a:txBody>
                  <a:tcPr anchor="t" marL="91440" marR="91440" marT="45720" marB="45720">
                    <a:lnL w="12240">
                      <a:solidFill>
                        <a:srgbClr val="000000"/>
                      </a:solidFill>
                      <a:prstDash val="solid"/>
                    </a:lnL>
                    <a:lnR w="9360">
                      <a:solidFill>
                        <a:srgbClr val="D5DFE8"/>
                      </a:solidFill>
                      <a:prstDash val="solid"/>
                    </a:lnR>
                    <a:lnT w="12240">
                      <a:solidFill>
                        <a:srgbClr val="000000"/>
                      </a:solidFill>
                      <a:prstDash val="solid"/>
                    </a:lnT>
                    <a:lnB w="9360">
                      <a:solidFill>
                        <a:srgbClr val="D5DFE8"/>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 name=""/>
          <p:cNvSpPr/>
          <p:nvPr/>
        </p:nvSpPr>
        <p:spPr>
          <a:xfrm>
            <a:off x="609480" y="428760"/>
            <a:ext cx="10972080" cy="79956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3380" b="1" u="none" strike="noStrike">
                <a:solidFill>
                  <a:srgbClr val="132238"/>
                </a:solidFill>
                <a:effectLst/>
                <a:uFillTx/>
                <a:latin typeface="DejaVu Sans"/>
                <a:ea typeface="DejaVu Sans"/>
              </a:rPr>
              <a:t>What the current tests establish</a:t>
            </a:r>
            <a:endParaRPr lang="en-US" sz="3380" b="0" u="none" strike="noStrike">
              <a:solidFill>
                <a:srgbClr val="000000"/>
              </a:solidFill>
              <a:effectLst/>
              <a:uFillTx/>
              <a:latin typeface="Arial"/>
            </a:endParaRPr>
          </a:p>
        </p:txBody>
      </p:sp>
      <p:sp>
        <p:nvSpPr>
          <p:cNvPr id="82" name=""/>
          <p:cNvSpPr/>
          <p:nvPr/>
        </p:nvSpPr>
        <p:spPr>
          <a:xfrm>
            <a:off x="609480" y="1523880"/>
            <a:ext cx="10953000" cy="93276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2020" b="0" u="none" strike="noStrike">
                <a:solidFill>
                  <a:srgbClr val="132238"/>
                </a:solidFill>
                <a:effectLst/>
                <a:uFillTx/>
                <a:latin typeface="DejaVu Sans"/>
                <a:ea typeface="DejaVu Sans"/>
              </a:rPr>
              <a:t>Guarded RF restored communication in the link failure, packet loss, congestion and delay demonstrations.</a:t>
            </a:r>
            <a:endParaRPr lang="en-US" sz="2020" b="0" u="none" strike="noStrike">
              <a:solidFill>
                <a:srgbClr val="000000"/>
              </a:solidFill>
              <a:effectLst/>
              <a:uFillTx/>
              <a:latin typeface="Arial"/>
            </a:endParaRPr>
          </a:p>
        </p:txBody>
      </p:sp>
      <p:sp>
        <p:nvSpPr>
          <p:cNvPr id="83" name=""/>
          <p:cNvSpPr/>
          <p:nvPr/>
        </p:nvSpPr>
        <p:spPr>
          <a:xfrm>
            <a:off x="609480" y="2629080"/>
            <a:ext cx="10953000" cy="93276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2020" b="0" u="none" strike="noStrike">
                <a:solidFill>
                  <a:srgbClr val="132238"/>
                </a:solidFill>
                <a:effectLst/>
                <a:uFillTx/>
                <a:latin typeface="DejaVu Sans"/>
                <a:ea typeface="DejaVu Sans"/>
              </a:rPr>
              <a:t>RF alone missed packet loss. The loss guard and fixed rules both recovered in that comparison.</a:t>
            </a:r>
            <a:endParaRPr lang="en-US" sz="2020" b="0" u="none" strike="noStrike">
              <a:solidFill>
                <a:srgbClr val="000000"/>
              </a:solidFill>
              <a:effectLst/>
              <a:uFillTx/>
              <a:latin typeface="Arial"/>
            </a:endParaRPr>
          </a:p>
        </p:txBody>
      </p:sp>
      <p:sp>
        <p:nvSpPr>
          <p:cNvPr id="84" name=""/>
          <p:cNvSpPr/>
          <p:nvPr/>
        </p:nvSpPr>
        <p:spPr>
          <a:xfrm>
            <a:off x="609480" y="3733920"/>
            <a:ext cx="10953000" cy="93276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2020" b="0" u="none" strike="noStrike">
                <a:solidFill>
                  <a:srgbClr val="132238"/>
                </a:solidFill>
                <a:effectLst/>
                <a:uFillTx/>
                <a:latin typeface="DejaVu Sans"/>
                <a:ea typeface="DejaVu Sans"/>
              </a:rPr>
              <a:t>When both paths failed, there was no healthy alternative. These are single-run observations on this testbed.</a:t>
            </a:r>
            <a:endParaRPr lang="en-US" sz="2020" b="0" u="none" strike="noStrike">
              <a:solidFill>
                <a:srgbClr val="000000"/>
              </a:solidFill>
              <a:effectLst/>
              <a:uFillTx/>
              <a:latin typeface="Arial"/>
            </a:endParaRPr>
          </a:p>
        </p:txBody>
      </p:sp>
      <p:sp>
        <p:nvSpPr>
          <p:cNvPr id="85" name=""/>
          <p:cNvSpPr/>
          <p:nvPr/>
        </p:nvSpPr>
        <p:spPr>
          <a:xfrm>
            <a:off x="609480" y="5095800"/>
            <a:ext cx="10476720" cy="42804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endParaRPr lang="en-US" sz="1800" b="0" u="none" strike="noStrike">
              <a:solidFill>
                <a:srgbClr val="000000"/>
              </a:solidFill>
              <a:effectLst/>
              <a:uFillTx/>
              <a:latin typeface="Arial"/>
            </a:endParaRPr>
          </a:p>
        </p:txBody>
      </p:sp>
      <p:sp>
        <p:nvSpPr>
          <p:cNvPr id="86" name=""/>
          <p:cNvSpPr/>
          <p:nvPr/>
        </p:nvSpPr>
        <p:spPr>
          <a:xfrm>
            <a:off x="609480" y="5667480"/>
            <a:ext cx="10953000" cy="71352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pitchFamily="0" charset="1"/>
        <a:ea typeface=""/>
        <a:cs typeface=""/>
      </a:majorFont>
      <a:minorFont>
        <a:latin typeface="Aptos"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45</TotalTime>
  <Application>LibreOffice/26.2.6.3$Linux_X86_64 LibreOffice_project/620$Build-3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2026-10-27T17:27:08Z</dcterms:created>
  <dc:creator>Walnut Exporter</dc:creator>
  <dc:description/>
  <dc:language>en-US</dc:language>
  <cp:lastModifiedBy/>
  <dcterms:modified xsi:type="dcterms:W3CDTF">2026-10-28T01:48:02Z</dcterms:modified>
  <cp:revision>1</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